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-3.7435020760181258E-2</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-8.8412259891719035E-3</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-7.9220595168148222E-2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-9.401189509562323E-2</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6.3205900673930795E-2</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3.4954573651375317E-2</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-6.3799527817389873E-2</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-5.1816725705891666E-2</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4.7359207060406319E-2</c:v>
                </c:pt>
                <c:pt idx="215">
                  <c:v>-5.201776863994235</c:v>
                </c:pt>
                <c:pt idx="216">
                  <c:v>-11.77450250497248</c:v>
                </c:pt>
                <c:pt idx="217">
                  <c:v>3.6015285040141718</c:v>
                </c:pt>
                <c:pt idx="218">
                  <c:v>4.8841781579292531</c:v>
                </c:pt>
                <c:pt idx="219">
                  <c:v>0.4577807668311385</c:v>
                </c:pt>
                <c:pt idx="220">
                  <c:v>8.4786250907834813</c:v>
                </c:pt>
                <c:pt idx="221">
                  <c:v>8.9958633533627264E-2</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-8.1305082687519889E-2</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3.148955016128907E-2</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-8.4123501758531657E-2</c:v>
                </c:pt>
                <c:pt idx="363">
                  <c:v>-9.2808656810839676E-2</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-3.5113893535685201E-3</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xmlns:ns2="http://schemas.microsoft.com/office/drawing/2014/char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-2.4020944130831133E-2</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3.6725813691200139E-3</c:v>
                </c:pt>
                <c:pt idx="96">
                  <c:v>5.1487876881489293E-2</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-4.3285768441321419E-2</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-2.0432276567333679E-2</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xmlns:ns2="http://schemas.microsoft.com/office/drawing/2014/char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Sources officielles :</a:t>
            </a:r>
          </a:p>
          <a:p>
            <a:r>
              <a:rPr lang="fr-FR" dirty="0"/>
              <a:t>https://www.ecb.europa.eu/stats/eurofxref/eurofxref-daily.xml</a:t>
            </a:r>
          </a:p>
          <a:p>
            <a:r>
              <a:rPr lang="fr-FR" dirty="0"/>
              <a:t>https://www.ecb.europa.eu/stats/policy_and_exchange_rates/euro_reference_exchange_rates/html/eurofxref-graph-usd.en.html</a:t>
            </a:r>
          </a:p>
          <a:p>
            <a:r>
              <a:rPr lang="fr-FR" dirty="0"/>
              <a:t>https://pricing.us-east-1.amazonaws.com/offers/v1.0/aws/AmazonEC2/current/eu-west-3/index.csv</a:t>
            </a:r>
          </a:p>
          <a:p>
            <a:r>
              <a:rPr lang="fr-FR" dirty="0"/>
              <a:t>Catalogue EC2 publié le 08/10/2026, effectif au 01/10/2026. c6i.xlarge SKU CKHYJHTXURYY5WKR ; EBS gp3 SKU XCKADFE99D2BK5V6.</a:t>
            </a:r>
          </a:p>
          <a:p>
            <a:r>
              <a:rPr lang="fr-FR" dirty="0"/>
              <a:t>https://pricing.us-east-1.amazonaws.com/offers/v1.0/aws/AmazonS3/current/eu-west-3/index.json</a:t>
            </a:r>
          </a:p>
          <a:p>
            <a:r>
              <a:rPr lang="fr-FR" dirty="0"/>
              <a:t>Catalogue S3 publié le 28/09/2026 : Standard SKU 4PMVMK58J94ER67S ; PUT JSTCNSNFYXFKBECA ; GET 9PAT6GAN57PYFYDZ.</a:t>
            </a:r>
          </a:p>
          <a:p>
            <a:r>
              <a:rPr lang="fr-FR" dirty="0"/>
              <a:t>https://aws.amazon.com/ec2/pricing/on-demand/</a:t>
            </a:r>
          </a:p>
          <a:p>
            <a:r>
              <a:rPr lang="fr-FR" dirty="0"/>
              <a:t>https://aws.amazon.com/ebs/pricing/</a:t>
            </a:r>
          </a:p>
          <a:p>
            <a:r>
              <a:rPr lang="fr-FR" dirty="0"/>
              <a:t>https://aws.amazon.com/s3/pricing/</a:t>
            </a:r>
          </a:p>
          <a:p>
            <a:r>
              <a:rPr lang="fr-FR" dirty="0"/>
              <a:t>https://aws.amazon.com/vpc/pricing/</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https://pricing.us-east-1.amazonaws.com/offers/v1.0/aws/AmazonEC2/current/eu-west-3/index.csv</a:t>
            </a:r>
          </a:p>
          <a:p>
            <a:r>
              <a:rPr lang="fr-FR" dirty="0"/>
              <a:t>https://pricing.us-east-1.amazonaws.com/offers/v1.0/aws/AmazonS3/current/eu-west-3/index.json</a:t>
            </a:r>
          </a:p>
          <a:p>
            <a:r>
              <a:rPr lang="fr-FR" dirty="0"/>
              <a:t>https://aws.amazon.com/ec2/pricing/on-demand/</a:t>
            </a:r>
          </a:p>
          <a:p>
            <a:r>
              <a:rPr lang="fr-FR" dirty="0"/>
              <a:t>https://aws.amazon.com/ebs/pricing/</a:t>
            </a:r>
          </a:p>
          <a:p>
            <a:r>
              <a:rPr lang="fr-FR" dirty="0"/>
              <a:t>https://aws.amazon.com/s3/pricing/</a:t>
            </a:r>
          </a:p>
          <a:p>
            <a:r>
              <a:rPr lang="fr-FR" dirty="0"/>
              <a:t>https://aws.amazon.com/vpc/pricing/</a:t>
            </a:r>
          </a:p>
          <a:p>
            <a:r>
              <a:rPr lang="fr-FR" dirty="0"/>
              <a:t>https://www.ecb.europa.eu/stats/eurofxref/eurofxref-daily.xml</a:t>
            </a:r>
          </a:p>
          <a:p>
            <a:r>
              <a:rPr lang="fr-FR" dirty="0"/>
              <a:t>Source locale : notebook 01_exploration_dataset.ipynb, benchmark final après égalisation et mesures de ressources.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limites sont séparées entre observations réelles et conditions de passage à l'échelle.</a:t>
            </a:r>
          </a:p>
          <a:p>
            <a:r>
              <a:rPr lang="fr-FR"/>
              <a:t>Observations locales, après les ajouts du mentor : 1000 images en 7.375849000003654 s sur CPU, avec read_image RGB, égalisation des histogrammes, prétraitement ImageNet, lots de 16 et CNN supervisé déjà entraîné. Extrapolation = 8.19538777778184 h pour 4 M. CPU local Intel i9-14900K déclaré par l'utilisateur dans sa présentation ; torch.get_num_threads() = 24 lors de la mesure. La c6i.xlarge AWS dispose de 4 vCPU, 8 GiB, et ne peut être supposée aussi rapide que cette machine. Aucun benchmark AWS ou GPU n'a été effectué. La slide 10 et les dix premières slides sont conservées dans leur état source, conformément au périmètre de révision limité aux trois slides financières. La mesure présentée ici est la plus récente, après égalisation.</a:t>
            </a:r>
          </a:p>
          <a:p>
            <a:r>
              <a:rPr lang="fr-FR"/>
              <a:t>RAM physique RSS estimée avec psutil toutes les 0.05 s, processus Python seulement, hors VRAM GPU. Création du modèle, extraction, essais et entraînements : pic 3310.07421875 MiB = 3.232494354 GiB. Traitement final : pic 3322.515625 MiB = 3.244644165 GiB. Le processus conserve les tableaux et modèles chargés plus tôt ; ce n'est pas la mémoire supplémentaire d'un seul lot. Pendant l'inférence, RAM au départ 3313.140625 MiB et hausse maximale observée 9.375 MiB.</a:t>
            </a:r>
          </a:p>
          <a:p>
            <a:r>
              <a:rPr lang="fr-FR"/>
              <a:t>Le notebook prépare actuellement une liste de toutes les images pour l'extraction et des TensorDataset contenant tous les tenseurs pour les entraînements ; ces parties ne sont pas adaptées à une préparation de 4 M images. Un tenseur float32 RGB 224*224 occupe 3*224*224*4 = 602112 octets. 4 M = 2408448000000 octets = environ 2.19047 TiB, sans modèles ni autres buffers. La prédiction finale utilise déjà des lots de 16 ; la généralisation du chargement progressif est la condition de mémoire, pas une augmentation infinie de la RAM. 8 GiB est une configuration à tester et non un minimum validé pour tous les nouveaux jeux.</a:t>
            </a:r>
          </a:p>
          <a:p>
            <a:r>
              <a:rPr lang="fr-FR"/>
              <a:t>Lecture/calcul : les 4 M fichiers et la latence S3 peuvent limiter le débit, même si le CNN est accéléré. Il s'agit d'hypothèses de blocage, pas d'un profilage cloud déjà effectué. Mesurer séparément lecture, égalisation, préparation des lots et calcul sur un échantillon de nouvelles images ; mesurer aussi un volume assez long pour dépasser le seul effet du cache. Préchargement en parallèle et disque temporaire peuvent être testés. Un GPU peut réduire le temps CNN mais pas supprimer toutes les attentes de lecture ; aucun gain GPU n'est inventé.</a:t>
            </a:r>
          </a:p>
          <a:p>
            <a:r>
              <a:rPr lang="fr-FR"/>
              <a:t>Volume et coût : moyenne mesurée sur les 1506 JPEG sources, 24.749329349 ko décimaux. L'énoncé annonce des PNG et emploie radiographies/IRM ; on ne suppose pas les nouveaux fichiers identiques sans vérification. Coût S3 et débit doivent être recalculés avec les tailles, formats et résolutions réellement livrés. La politique de suppression après 12 mois est nécessaire pour stabiliser le stockage glissant.</a:t>
            </a:r>
          </a:p>
          <a:p>
            <a:r>
              <a:rPr lang="fr-FR"/>
              <a:t>Qualité : les ensembles forts restent séparés, avec test de 20 images jamais utilisé pour l'entraînement ou la sélection. Après égalisation, accuracy supervisée 0.90, rappel cancer 0.90, F2 0.90 sur ces 20 images ; semi-supervisé accuracy 0.85, F2 0.8163. Ces résultats exploratoires ne démontrent pas une qualité garantie sur 4 M nouvelles images ou une validation clinique. Les limites de représentativité et les coûts d'un contrôle humain ne sont pas couverts par le seul devis d'infrastructure. Aucun seuil de réussite clinique n'a été fixé.</a:t>
            </a:r>
          </a:p>
          <a:p>
            <a:r>
              <a:rPr lang="fr-FR"/>
              <a:t>Sources projet : 01_exploration_dataset.ipynb, données locales, énoncé BrainScanAI et AGENTS.md.</a:t>
            </a:r>
          </a:p>
          <a:p>
            <a:r>
              <a:rPr lang="fr-FR"/>
              <a:t>Sources techniques officielles :</a:t>
            </a:r>
            <a:endParaRPr lang="fr-FR" dirty="0"/>
          </a:p>
          <a:p>
            <a:r>
              <a:rPr lang="fr-FR" dirty="0"/>
              <a:t>https://docs.aws.amazon.com/ec2/latest/instancetypes/co.html</a:t>
            </a:r>
          </a:p>
          <a:p>
            <a:r>
              <a:rPr lang="fr-FR" dirty="0"/>
              <a:t>https://aws.amazon.com/s3/pricing/</a:t>
            </a:r>
          </a:p>
          <a:p>
            <a:r>
              <a:rPr lang="fr-FR" dirty="0"/>
              <a:t>https://docs.pytorch.org/docs/stable/data.html</a:t>
            </a:r>
          </a:p>
          <a:p>
            <a:r>
              <a:rPr lang="fr-FR" dirty="0"/>
              <a:t>https://aws.amazon.com/ec2/instance-types/g4/</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a:t>
            </a:r>
            <a:r>
              <a:rPr lang="fr-FR" dirty="0" err="1">
                <a:solidFill>
                  <a:srgbClr val="172F43"/>
                </a:solidFill>
                <a:latin typeface="Arial" panose="020B0604020202020204" pitchFamily="34" charset="0"/>
              </a:rPr>
              <a:t>definition</a:t>
            </a:r>
            <a:r>
              <a:rPr lang="fr-FR" dirty="0">
                <a:solidFill>
                  <a:srgbClr val="172F43"/>
                </a:solidFill>
                <a:latin typeface="Arial" panose="020B0604020202020204" pitchFamily="34" charset="0"/>
              </a:rPr>
              <a:t>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2028382726"/>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dimensions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err="1">
                <a:solidFill>
                  <a:srgbClr val="172F43"/>
                </a:solidFill>
                <a:latin typeface="Arial" panose="020B0604020202020204" pitchFamily="34" charset="0"/>
              </a:rPr>
              <a:t>Productiond</a:t>
            </a:r>
            <a:r>
              <a:rPr lang="fr-FR" sz="2200" b="1" dirty="0">
                <a:solidFill>
                  <a:srgbClr val="172F43"/>
                </a:solidFill>
                <a:latin typeface="Arial" panose="020B0604020202020204" pitchFamily="34" charset="0"/>
              </a:rPr>
              <a:t> d’un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 de l’image</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105400"/>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Calcul de  l’ARI pour évaluer si les groupes créés par le clustering correspondent à la séparation « normal / cancer » des images labelisées</a:t>
            </a:r>
            <a:endParaRPr lang="fr-FR" dirty="0">
              <a:solidFill>
                <a:srgbClr val="172F43"/>
              </a:solidFill>
              <a:latin typeface="Arial" panose="020B0604020202020204" pitchFamily="34" charset="0"/>
            </a:endParaRPr>
          </a:p>
          <a:p>
            <a:endParaRPr lang="fr-FR" b="1" dirty="0">
              <a:solidFill>
                <a:srgbClr val="172F43"/>
              </a:solidFill>
              <a:latin typeface="Arial" panose="020B0604020202020204" pitchFamily="34" charset="0"/>
            </a:endParaRPr>
          </a:p>
          <a:p>
            <a:r>
              <a:rPr lang="fr-FR" b="1" dirty="0">
                <a:solidFill>
                  <a:srgbClr val="172F43"/>
                </a:solidFill>
                <a:latin typeface="Arial" panose="020B0604020202020204" pitchFamily="34" charset="0"/>
              </a:rPr>
              <a:t>Comparaison avec la dernière couche et la couche intermédiaire</a:t>
            </a:r>
            <a:endParaRPr lang="fr-FR" dirty="0">
              <a:solidFill>
                <a:srgbClr val="172F43"/>
              </a:solidFill>
              <a:latin typeface="Arial" panose="020B0604020202020204" pitchFamily="34" charset="0"/>
            </a:endParaRP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08143518"/>
              </p:ext>
            </p:extLst>
          </p:nvPr>
        </p:nvGraphicFramePr>
        <p:xfrm>
          <a:off x="487960" y="3123967"/>
          <a:ext cx="109728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cependant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541091" y="1536698"/>
            <a:ext cx="11165746" cy="6985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cs typeface="Arial" panose="020B0604020202020204" pitchFamily="34" charset="0"/>
              </a:rPr>
              <a:t>Choix de rechercher </a:t>
            </a:r>
            <a:r>
              <a:rPr lang="fr-FR" sz="1600" b="1" dirty="0">
                <a:solidFill>
                  <a:srgbClr val="172F43"/>
                </a:solidFill>
                <a:latin typeface="Arial" panose="020B0604020202020204" pitchFamily="34" charset="0"/>
                <a:cs typeface="Arial" panose="020B0604020202020204" pitchFamily="34" charset="0"/>
              </a:rPr>
              <a:t>un taux d’apprentissage (</a:t>
            </a:r>
            <a:r>
              <a:rPr lang="fr-FR" sz="1600" dirty="0">
                <a:latin typeface="Arial" panose="020B0604020202020204" pitchFamily="34" charset="0"/>
                <a:cs typeface="Arial" panose="020B0604020202020204" pitchFamily="34" charset="0"/>
              </a:rPr>
              <a:t>Trop grand, il peut rendre l’apprentissage instable ; trop petit, l’apprentissage avance lentement.) et le </a:t>
            </a:r>
            <a:r>
              <a:rPr lang="fr-FR" sz="1600" b="1" dirty="0">
                <a:latin typeface="Arial" panose="020B0604020202020204" pitchFamily="34" charset="0"/>
                <a:cs typeface="Arial" panose="020B0604020202020204" pitchFamily="34" charset="0"/>
              </a:rPr>
              <a:t>nombre d’époques </a:t>
            </a:r>
            <a:r>
              <a:rPr lang="fr-FR" sz="1600" dirty="0">
                <a:latin typeface="Arial" panose="020B0604020202020204" pitchFamily="34" charset="0"/>
                <a:cs typeface="Arial" panose="020B0604020202020204" pitchFamily="34" charset="0"/>
              </a:rPr>
              <a:t>(Plus d’époques permettent d’apprendre davantage, mais peuvent aussi favoriser le surapprentissage.)</a:t>
            </a:r>
            <a:endParaRPr lang="fr-FR" sz="1600" b="1" dirty="0">
              <a:solidFill>
                <a:srgbClr val="172F43"/>
              </a:solidFill>
              <a:latin typeface="Arial" panose="020B060402020202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3650116825"/>
              </p:ext>
            </p:extLst>
          </p:nvPr>
        </p:nvGraphicFramePr>
        <p:xfrm>
          <a:off x="714637" y="3665519"/>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0,7143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0,9524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445627" y="5664200"/>
            <a:ext cx="9801137"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17437" y="2713370"/>
            <a:ext cx="4089400" cy="876300"/>
          </a:xfrm>
          <a:prstGeom prst="rect">
            <a:avLst/>
          </a:prstGeom>
          <a:noFill/>
        </p:spPr>
        <p:txBody>
          <a:bodyPr vert="horz" wrap="square" lIns="0" tIns="0" rIns="0" bIns="0" rtlCol="0">
            <a:noAutofit/>
          </a:bodyPr>
          <a:lstStyle/>
          <a:p>
            <a:r>
              <a:rPr lang="fr-FR" sz="16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17437" y="3386472"/>
            <a:ext cx="4089400" cy="3213100"/>
          </a:xfrm>
          <a:prstGeom prst="rect">
            <a:avLst/>
          </a:prstGeom>
          <a:noFill/>
        </p:spPr>
        <p:txBody>
          <a:bodyPr vert="horz" wrap="square" lIns="0" tIns="0" rIns="0" bIns="0" rtlCol="0">
            <a:noAutofit/>
          </a:bodyPr>
          <a:lstStyle/>
          <a:p>
            <a:r>
              <a:rPr lang="fr-FR" sz="1400" dirty="0" err="1">
                <a:solidFill>
                  <a:srgbClr val="172F43"/>
                </a:solidFill>
                <a:latin typeface="Arial" panose="020B0604020202020204" pitchFamily="34" charset="0"/>
              </a:rPr>
              <a:t>Accuracy</a:t>
            </a:r>
            <a:r>
              <a:rPr lang="fr-FR" sz="1400"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3439823545"/>
              </p:ext>
            </p:extLst>
          </p:nvPr>
        </p:nvGraphicFramePr>
        <p:xfrm>
          <a:off x="1893115" y="2517621"/>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err="1">
                          <a:solidFill>
                            <a:srgbClr val="FFFFFF"/>
                          </a:solidFill>
                          <a:latin typeface="Arial" panose="020B0604020202020204" pitchFamily="34" charset="0"/>
                        </a:rPr>
                        <a:t>Accuracy</a:t>
                      </a:r>
                      <a:r>
                        <a:rPr lang="fr-FR" sz="1400" b="1" dirty="0">
                          <a:solidFill>
                            <a:srgbClr val="FFFFFF"/>
                          </a:solidFill>
                          <a:latin typeface="Arial" panose="020B0604020202020204" pitchFamily="34" charset="0"/>
                        </a:rPr>
                        <a:t> faible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1,0000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Test faible : accuracy de 0,977 sur 263 images (labels faibles).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ses couches sont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2684526821"/>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0,850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0,842</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0,889</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0,816</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2963629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2</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8</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Le supervisé obtient le meilleur F2 cancer dans cette expérience.</a:t>
            </a:r>
          </a:p>
          <a:p>
            <a:r>
              <a:rPr lang="fr-FR" b="1" dirty="0">
                <a:solidFill>
                  <a:srgbClr val="172F43"/>
                </a:solidFill>
                <a:latin typeface="Arial" panose="020B0604020202020204" pitchFamily="34" charset="0"/>
              </a:rPr>
              <a:t>An noter un écart train/test suggérant un léger surapprentissage pour le semi-supervisé</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10414000" cy="2540000"/>
          </a:xfrm>
          <a:prstGeom prst="rect">
            <a:avLst/>
          </a:prstGeom>
          <a:noFill/>
        </p:spPr>
        <p:txBody>
          <a:bodyPr wrap="square">
            <a:spAutoFit/>
          </a:bodyPr>
          <a:lstStyle/>
          <a:p>
            <a:r>
              <a:rPr lang="fr-FR" sz="1800" b="0" i="0">
                <a:solidFill>
                  <a:schemeClr val="tx1"/>
                </a:solidFill>
                <a:effectLst/>
                <a:latin typeface="+mn-lt"/>
              </a:rPr>
              <a:t>Machine utilisée : i9-14900K, CPU local
Après égalisation : 1 000 images en 7,4 s
Estimation pour 4 millions : 8,2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2C503CC-BBC1-E281-D52D-080DED4427A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3" name="ZoneTexte 2">
            <a:extLst>
              <a:ext uri="{FF2B5EF4-FFF2-40B4-BE49-F238E27FC236}">
                <a16:creationId xmlns:a16="http://schemas.microsoft.com/office/drawing/2014/main" id="{413D2057-06A0-49B0-7E8E-DF3C5A98D0E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Prototypage : 30 heures de travail</a:t>
            </a:r>
          </a:p>
        </p:txBody>
      </p:sp>
      <p:cxnSp>
        <p:nvCxnSpPr>
          <p:cNvPr id="4" name="Connecteur droit 3">
            <a:extLst>
              <a:ext uri="{FF2B5EF4-FFF2-40B4-BE49-F238E27FC236}">
                <a16:creationId xmlns:a16="http://schemas.microsoft.com/office/drawing/2014/main" id="{167A8080-C939-4AAC-F496-B2FA42F9D0B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E1E383AD-88FC-82C0-AF9D-61C6631430E3}"/>
              </a:ext>
            </a:extLst>
          </p:cNvPr>
          <p:cNvSpPr txBox="1"/>
          <p:nvPr/>
        </p:nvSpPr>
        <p:spPr>
          <a:xfrm>
            <a:off x="609600" y="1727199"/>
            <a:ext cx="10972800" cy="6731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Hypothèse : VM AWS Paris allumée pendant les 30 h. Machine c6i.xlarge : 4 CPU virtuels, 8 Gio de RAM.</a:t>
            </a:r>
          </a:p>
        </p:txBody>
      </p:sp>
      <p:graphicFrame>
        <p:nvGraphicFramePr>
          <p:cNvPr id="6" name="Tableau 5">
            <a:extLst>
              <a:ext uri="{FF2B5EF4-FFF2-40B4-BE49-F238E27FC236}">
                <a16:creationId xmlns:a16="http://schemas.microsoft.com/office/drawing/2014/main" id="{56D805C0-7133-C8F1-E207-7662BAD785D5}"/>
              </a:ext>
            </a:extLst>
          </p:cNvPr>
          <p:cNvGraphicFramePr>
            <a:graphicFrameLocks noGrp="1"/>
          </p:cNvGraphicFramePr>
          <p:nvPr>
            <p:extLst>
              <p:ext uri="{D42A27DB-BD31-4B8C-83A1-F6EECF244321}">
                <p14:modId xmlns:p14="http://schemas.microsoft.com/office/powerpoint/2010/main" val="1422896126"/>
              </p:ext>
            </p:extLst>
          </p:nvPr>
        </p:nvGraphicFramePr>
        <p:xfrm>
          <a:off x="609600" y="2705100"/>
          <a:ext cx="10972800" cy="2730500"/>
        </p:xfrm>
        <a:graphic>
          <a:graphicData uri="http://schemas.openxmlformats.org/drawingml/2006/table">
            <a:tbl>
              <a:tblPr firstRow="1" bandRow="1">
                <a:tableStyleId>{5C22544A-7EE6-4342-B048-85BDC9FD1C3A}</a:tableStyleId>
              </a:tblPr>
              <a:tblGrid>
                <a:gridCol w="3213100">
                  <a:extLst>
                    <a:ext uri="{9D8B030D-6E8A-4147-A177-3AD203B41FA5}">
                      <a16:colId xmlns:a16="http://schemas.microsoft.com/office/drawing/2014/main" val="2126231453"/>
                    </a:ext>
                  </a:extLst>
                </a:gridCol>
                <a:gridCol w="2425700">
                  <a:extLst>
                    <a:ext uri="{9D8B030D-6E8A-4147-A177-3AD203B41FA5}">
                      <a16:colId xmlns:a16="http://schemas.microsoft.com/office/drawing/2014/main" val="2735647876"/>
                    </a:ext>
                  </a:extLst>
                </a:gridCol>
                <a:gridCol w="3632200">
                  <a:extLst>
                    <a:ext uri="{9D8B030D-6E8A-4147-A177-3AD203B41FA5}">
                      <a16:colId xmlns:a16="http://schemas.microsoft.com/office/drawing/2014/main" val="3457705466"/>
                    </a:ext>
                  </a:extLst>
                </a:gridCol>
                <a:gridCol w="1701800">
                  <a:extLst>
                    <a:ext uri="{9D8B030D-6E8A-4147-A177-3AD203B41FA5}">
                      <a16:colId xmlns:a16="http://schemas.microsoft.com/office/drawing/2014/main" val="1837356249"/>
                    </a:ext>
                  </a:extLst>
                </a:gridCol>
              </a:tblGrid>
              <a:tr h="546100">
                <a:tc>
                  <a:txBody>
                    <a:bodyPr/>
                    <a:lstStyle/>
                    <a:p>
                      <a:pPr algn="l"/>
                      <a:r>
                        <a:rPr lang="fr-FR" sz="1800" b="1" dirty="0">
                          <a:solidFill>
                            <a:srgbClr val="FFFFFF"/>
                          </a:solidFill>
                          <a:latin typeface="Arial" panose="020B0604020202020204" pitchFamily="34" charset="0"/>
                        </a:rPr>
                        <a:t>Poste AWS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Tarif et unité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Quantité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Coût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955420173"/>
                  </a:ext>
                </a:extLst>
              </a:tr>
              <a:tr h="546100">
                <a:tc>
                  <a:txBody>
                    <a:bodyPr/>
                    <a:lstStyle/>
                    <a:p>
                      <a:pPr algn="l"/>
                      <a:r>
                        <a:rPr lang="fr-FR" sz="1800" b="0" dirty="0">
                          <a:solidFill>
                            <a:srgbClr val="172F43"/>
                          </a:solidFill>
                          <a:latin typeface="Arial" panose="020B0604020202020204" pitchFamily="34" charset="0"/>
                        </a:rPr>
                        <a:t>Machine + adresse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0,1851 €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30 h,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58745357"/>
                  </a:ext>
                </a:extLst>
              </a:tr>
              <a:tr h="546100">
                <a:tc>
                  <a:txBody>
                    <a:bodyPr/>
                    <a:lstStyle/>
                    <a:p>
                      <a:pPr algn="l"/>
                      <a:r>
                        <a:rPr lang="fr-FR" sz="1800" b="0" dirty="0">
                          <a:solidFill>
                            <a:srgbClr val="172F43"/>
                          </a:solidFill>
                          <a:latin typeface="Arial" panose="020B0604020202020204" pitchFamily="34" charset="0"/>
                        </a:rPr>
                        <a:t>Disque de travail, 50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mois de conservation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21319609"/>
                  </a:ext>
                </a:extLst>
              </a:tr>
              <a:tr h="546100">
                <a:tc>
                  <a:txBody>
                    <a:bodyPr/>
                    <a:lstStyle/>
                    <a:p>
                      <a:pPr algn="l"/>
                      <a:r>
                        <a:rPr lang="fr-FR" sz="1800" b="0" dirty="0">
                          <a:solidFill>
                            <a:srgbClr val="172F43"/>
                          </a:solidFill>
                          <a:latin typeface="Arial" panose="020B0604020202020204" pitchFamily="34" charset="0"/>
                        </a:rPr>
                        <a:t>Images et accès au stockage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 0,01 € / </a:t>
                      </a:r>
                      <a:r>
                        <a:rPr lang="fr-FR" sz="1800" b="0" dirty="0" err="1">
                          <a:solidFill>
                            <a:srgbClr val="172F43"/>
                          </a:solidFill>
                          <a:latin typeface="Arial" panose="020B0604020202020204" pitchFamily="34" charset="0"/>
                        </a:rPr>
                        <a:t>dataset</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37 Mo ; 1 envoi + 1 lecture/image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72978847"/>
                  </a:ext>
                </a:extLst>
              </a:tr>
              <a:tr h="546100">
                <a:tc>
                  <a:txBody>
                    <a:bodyPr/>
                    <a:lstStyle/>
                    <a:p>
                      <a:pPr algn="l"/>
                      <a:r>
                        <a:rPr lang="fr-FR" sz="1800" b="1" dirty="0">
                          <a:solidFill>
                            <a:srgbClr val="172F43"/>
                          </a:solidFill>
                          <a:latin typeface="Arial" panose="020B0604020202020204" pitchFamily="34" charset="0"/>
                        </a:rPr>
                        <a:t>TOTAL CLOUD</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endParaRPr lang="fr-FR" sz="1800" b="1"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Pour ce prototype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9,71 €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615766142"/>
                  </a:ext>
                </a:extLst>
              </a:tr>
            </a:tbl>
          </a:graphicData>
        </a:graphic>
      </p:graphicFrame>
      <p:sp>
        <p:nvSpPr>
          <p:cNvPr id="7" name="ZoneTexte 6">
            <a:extLst>
              <a:ext uri="{FF2B5EF4-FFF2-40B4-BE49-F238E27FC236}">
                <a16:creationId xmlns:a16="http://schemas.microsoft.com/office/drawing/2014/main" id="{C432A5C9-12EA-DA99-0FCB-2F9512AC8DF2}"/>
              </a:ext>
            </a:extLst>
          </p:cNvPr>
          <p:cNvSpPr txBox="1"/>
          <p:nvPr/>
        </p:nvSpPr>
        <p:spPr>
          <a:xfrm>
            <a:off x="609600" y="56768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Les essais et les entraînements sont inclus dans les 30 h de VM. Hors temps humain</a:t>
            </a:r>
          </a:p>
        </p:txBody>
      </p:sp>
      <p:sp>
        <p:nvSpPr>
          <p:cNvPr id="8" name="ZoneTexte 7">
            <a:extLst>
              <a:ext uri="{FF2B5EF4-FFF2-40B4-BE49-F238E27FC236}">
                <a16:creationId xmlns:a16="http://schemas.microsoft.com/office/drawing/2014/main" id="{212ACBF9-EE04-D6BB-D6A2-52FB4534643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EUR HT : prix AWS Paris au 09/10/2026, convertis au taux BCE du 08/10/2026 (1 € = 1,1186 $).</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05DED1B-349B-C9E5-7EC5-23CA9D7782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3" name="ZoneTexte 2">
            <a:extLst>
              <a:ext uri="{FF2B5EF4-FFF2-40B4-BE49-F238E27FC236}">
                <a16:creationId xmlns:a16="http://schemas.microsoft.com/office/drawing/2014/main" id="{4777E6CD-C65A-EBC2-C3BB-449671BF828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en une fois ou sur un an</a:t>
            </a:r>
          </a:p>
        </p:txBody>
      </p:sp>
      <p:cxnSp>
        <p:nvCxnSpPr>
          <p:cNvPr id="4" name="Connecteur droit 3">
            <a:extLst>
              <a:ext uri="{FF2B5EF4-FFF2-40B4-BE49-F238E27FC236}">
                <a16:creationId xmlns:a16="http://schemas.microsoft.com/office/drawing/2014/main" id="{6A856810-1B84-C646-0855-A23AB711FDD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A4B6A669-39BF-7B9E-FC91-1DECCE736412}"/>
              </a:ext>
            </a:extLst>
          </p:cNvPr>
          <p:cNvSpPr txBox="1"/>
          <p:nvPr/>
        </p:nvSpPr>
        <p:spPr>
          <a:xfrm>
            <a:off x="609600" y="17144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Modèle déjà entraîné. Hypothèse de coût : 8,2 h de VM pour 4 M images, soit 41 min par lot mensuel. Durée AWS à vérifier.</a:t>
            </a:r>
          </a:p>
        </p:txBody>
      </p:sp>
      <p:graphicFrame>
        <p:nvGraphicFramePr>
          <p:cNvPr id="6" name="Tableau 5">
            <a:extLst>
              <a:ext uri="{FF2B5EF4-FFF2-40B4-BE49-F238E27FC236}">
                <a16:creationId xmlns:a16="http://schemas.microsoft.com/office/drawing/2014/main" id="{20C25E09-528B-6938-069B-34D0D4888C26}"/>
              </a:ext>
            </a:extLst>
          </p:cNvPr>
          <p:cNvGraphicFramePr>
            <a:graphicFrameLocks noGrp="1"/>
          </p:cNvGraphicFramePr>
          <p:nvPr>
            <p:extLst>
              <p:ext uri="{D42A27DB-BD31-4B8C-83A1-F6EECF244321}">
                <p14:modId xmlns:p14="http://schemas.microsoft.com/office/powerpoint/2010/main" val="2437748671"/>
              </p:ext>
            </p:extLst>
          </p:nvPr>
        </p:nvGraphicFramePr>
        <p:xfrm>
          <a:off x="609600" y="2438400"/>
          <a:ext cx="10972800" cy="3124200"/>
        </p:xfrm>
        <a:graphic>
          <a:graphicData uri="http://schemas.openxmlformats.org/drawingml/2006/table">
            <a:tbl>
              <a:tblPr firstRow="1" bandRow="1">
                <a:tableStyleId>{5C22544A-7EE6-4342-B048-85BDC9FD1C3A}</a:tableStyleId>
              </a:tblPr>
              <a:tblGrid>
                <a:gridCol w="5054600">
                  <a:extLst>
                    <a:ext uri="{9D8B030D-6E8A-4147-A177-3AD203B41FA5}">
                      <a16:colId xmlns:a16="http://schemas.microsoft.com/office/drawing/2014/main" val="96676634"/>
                    </a:ext>
                  </a:extLst>
                </a:gridCol>
                <a:gridCol w="2819400">
                  <a:extLst>
                    <a:ext uri="{9D8B030D-6E8A-4147-A177-3AD203B41FA5}">
                      <a16:colId xmlns:a16="http://schemas.microsoft.com/office/drawing/2014/main" val="1379826535"/>
                    </a:ext>
                  </a:extLst>
                </a:gridCol>
                <a:gridCol w="3098800">
                  <a:extLst>
                    <a:ext uri="{9D8B030D-6E8A-4147-A177-3AD203B41FA5}">
                      <a16:colId xmlns:a16="http://schemas.microsoft.com/office/drawing/2014/main" val="4030880562"/>
                    </a:ext>
                  </a:extLst>
                </a:gridCol>
              </a:tblGrid>
              <a:tr h="596900">
                <a:tc>
                  <a:txBody>
                    <a:bodyPr/>
                    <a:lstStyle/>
                    <a:p>
                      <a:pPr algn="l"/>
                      <a:r>
                        <a:rPr lang="fr-FR" sz="1700" b="1" dirty="0">
                          <a:solidFill>
                            <a:srgbClr val="FFFFFF"/>
                          </a:solidFill>
                          <a:latin typeface="Arial" panose="020B0604020202020204" pitchFamily="34" charset="0"/>
                        </a:rPr>
                        <a:t>Dépense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En une fois
4 M au mois 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Glissant, année 1
≈ 333 333 images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863144696"/>
                  </a:ext>
                </a:extLst>
              </a:tr>
              <a:tr h="596900">
                <a:tc>
                  <a:txBody>
                    <a:bodyPr/>
                    <a:lstStyle/>
                    <a:p>
                      <a:pPr algn="l"/>
                      <a:r>
                        <a:rPr lang="fr-FR" sz="1700" b="0" dirty="0">
                          <a:solidFill>
                            <a:srgbClr val="172F43"/>
                          </a:solidFill>
                          <a:latin typeface="Arial" panose="020B0604020202020204" pitchFamily="34" charset="0"/>
                        </a:rPr>
                        <a:t>Machine : 0,1851 € / heure
8,2 h de VM dans l'année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1195036"/>
                  </a:ext>
                </a:extLst>
              </a:tr>
              <a:tr h="596900">
                <a:tc>
                  <a:txBody>
                    <a:bodyPr/>
                    <a:lstStyle/>
                    <a:p>
                      <a:pPr algn="l"/>
                      <a:r>
                        <a:rPr lang="fr-FR" sz="1700" b="0" dirty="0">
                          <a:solidFill>
                            <a:srgbClr val="172F43"/>
                          </a:solidFill>
                          <a:latin typeface="Arial" panose="020B0604020202020204" pitchFamily="34" charset="0"/>
                        </a:rPr>
                        <a:t>Images : ≈ 99 Go, 12 mois / image
1,98 € / mois au stock complet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23,74 €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12,86 €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93271420"/>
                  </a:ext>
                </a:extLst>
              </a:tr>
              <a:tr h="444500">
                <a:tc>
                  <a:txBody>
                    <a:bodyPr/>
                    <a:lstStyle/>
                    <a:p>
                      <a:pPr algn="l"/>
                      <a:r>
                        <a:rPr lang="fr-FR" sz="1700" b="0" dirty="0">
                          <a:solidFill>
                            <a:srgbClr val="172F43"/>
                          </a:solidFill>
                          <a:latin typeface="Arial" panose="020B0604020202020204" pitchFamily="34" charset="0"/>
                        </a:rPr>
                        <a:t>Disque : 50 Gio à 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 mois : 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mois : 49,78 €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238359257"/>
                  </a:ext>
                </a:extLst>
              </a:tr>
              <a:tr h="444500">
                <a:tc>
                  <a:txBody>
                    <a:bodyPr/>
                    <a:lstStyle/>
                    <a:p>
                      <a:pPr algn="l"/>
                      <a:r>
                        <a:rPr lang="fr-FR" sz="1700" b="0" dirty="0">
                          <a:solidFill>
                            <a:srgbClr val="172F43"/>
                          </a:solidFill>
                          <a:latin typeface="Arial" panose="020B0604020202020204" pitchFamily="34" charset="0"/>
                        </a:rPr>
                        <a:t>Accès : 1 envoi + 1 lecture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 1,70 € / lot)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785586077"/>
                  </a:ext>
                </a:extLst>
              </a:tr>
              <a:tr h="444500">
                <a:tc>
                  <a:txBody>
                    <a:bodyPr/>
                    <a:lstStyle/>
                    <a:p>
                      <a:pPr algn="l"/>
                      <a:r>
                        <a:rPr lang="fr-FR" sz="1700" b="1" dirty="0">
                          <a:solidFill>
                            <a:srgbClr val="172F43"/>
                          </a:solidFill>
                          <a:latin typeface="Arial" panose="020B0604020202020204" pitchFamily="34" charset="0"/>
                        </a:rPr>
                        <a:t>TOTAL CLOUD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49,86 €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84,61 €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30669867"/>
                  </a:ext>
                </a:extLst>
              </a:tr>
            </a:tbl>
          </a:graphicData>
        </a:graphic>
      </p:graphicFrame>
      <p:sp>
        <p:nvSpPr>
          <p:cNvPr id="7" name="ZoneTexte 6">
            <a:extLst>
              <a:ext uri="{FF2B5EF4-FFF2-40B4-BE49-F238E27FC236}">
                <a16:creationId xmlns:a16="http://schemas.microsoft.com/office/drawing/2014/main" id="{512FF550-847B-71B3-C561-B8374BA9A8F9}"/>
              </a:ext>
            </a:extLst>
          </p:cNvPr>
          <p:cNvSpPr txBox="1"/>
          <p:nvPr/>
        </p:nvSpPr>
        <p:spPr>
          <a:xfrm>
            <a:off x="609600" y="5740399"/>
            <a:ext cx="10972800" cy="5461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Stockage des images : 0,16 à 1,98 € / mois en année 1. Ensuite : total cloud de 95,49 € / an.
VM arrêtée entre les lots ; disque supprimé après le lot unique.</a:t>
            </a:r>
            <a:endParaRPr lang="fr-FR" sz="1700" dirty="0">
              <a:solidFill>
                <a:srgbClr val="172F43"/>
              </a:solidFill>
              <a:latin typeface="Arial" panose="020B0604020202020204" pitchFamily="34" charset="0"/>
            </a:endParaRPr>
          </a:p>
        </p:txBody>
      </p:sp>
      <p:sp>
        <p:nvSpPr>
          <p:cNvPr id="8" name="ZoneTexte 7">
            <a:extLst>
              <a:ext uri="{FF2B5EF4-FFF2-40B4-BE49-F238E27FC236}">
                <a16:creationId xmlns:a16="http://schemas.microsoft.com/office/drawing/2014/main" id="{AD83A54A-A380-D9A1-F201-B0B1C725A36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Infrastructure seule, hors prototype, taxes et contrôle humain. Une copie des images ; aucune sauvegarde supplémentaire.</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DB70433-21BE-19FC-6D65-48402753D0D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3" name="ZoneTexte 2">
            <a:extLst>
              <a:ext uri="{FF2B5EF4-FFF2-40B4-BE49-F238E27FC236}">
                <a16:creationId xmlns:a16="http://schemas.microsoft.com/office/drawing/2014/main" id="{7D685559-87D0-2E95-5996-AF52C15A039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Limites techniques du passage à l'échelle</a:t>
            </a:r>
          </a:p>
        </p:txBody>
      </p:sp>
      <p:cxnSp>
        <p:nvCxnSpPr>
          <p:cNvPr id="4" name="Connecteur droit 3">
            <a:extLst>
              <a:ext uri="{FF2B5EF4-FFF2-40B4-BE49-F238E27FC236}">
                <a16:creationId xmlns:a16="http://schemas.microsoft.com/office/drawing/2014/main" id="{6AFEEACE-B718-8A22-21F8-9131C0DAB8D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3845D237-FF1D-98BD-7FBA-35E81B41541F}"/>
              </a:ext>
            </a:extLst>
          </p:cNvPr>
          <p:cNvSpPr txBox="1"/>
          <p:nvPr/>
        </p:nvSpPr>
        <p:spPr>
          <a:xfrm>
            <a:off x="609600" y="1701799"/>
            <a:ext cx="10972800" cy="5588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En local : 1 000 images en 7,4 s → 8,2 h estimées pour 4 M. </a:t>
            </a:r>
          </a:p>
          <a:p>
            <a:r>
              <a:rPr lang="fr-FR" sz="2000" b="1" dirty="0">
                <a:solidFill>
                  <a:srgbClr val="172F43"/>
                </a:solidFill>
                <a:latin typeface="Arial" panose="020B0604020202020204" pitchFamily="34" charset="0"/>
              </a:rPr>
              <a:t>La performance AWS reste cependant inconnu.</a:t>
            </a:r>
          </a:p>
        </p:txBody>
      </p:sp>
      <p:graphicFrame>
        <p:nvGraphicFramePr>
          <p:cNvPr id="6" name="Tableau 5">
            <a:extLst>
              <a:ext uri="{FF2B5EF4-FFF2-40B4-BE49-F238E27FC236}">
                <a16:creationId xmlns:a16="http://schemas.microsoft.com/office/drawing/2014/main" id="{92DBE353-F800-D13B-3486-52409180C4C0}"/>
              </a:ext>
            </a:extLst>
          </p:cNvPr>
          <p:cNvGraphicFramePr>
            <a:graphicFrameLocks noGrp="1"/>
          </p:cNvGraphicFramePr>
          <p:nvPr>
            <p:extLst>
              <p:ext uri="{D42A27DB-BD31-4B8C-83A1-F6EECF244321}">
                <p14:modId xmlns:p14="http://schemas.microsoft.com/office/powerpoint/2010/main" val="1874986983"/>
              </p:ext>
            </p:extLst>
          </p:nvPr>
        </p:nvGraphicFramePr>
        <p:xfrm>
          <a:off x="609600" y="2476500"/>
          <a:ext cx="10972800" cy="364490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32022869"/>
                    </a:ext>
                  </a:extLst>
                </a:gridCol>
                <a:gridCol w="3835400">
                  <a:extLst>
                    <a:ext uri="{9D8B030D-6E8A-4147-A177-3AD203B41FA5}">
                      <a16:colId xmlns:a16="http://schemas.microsoft.com/office/drawing/2014/main" val="654276186"/>
                    </a:ext>
                  </a:extLst>
                </a:gridCol>
                <a:gridCol w="5181600">
                  <a:extLst>
                    <a:ext uri="{9D8B030D-6E8A-4147-A177-3AD203B41FA5}">
                      <a16:colId xmlns:a16="http://schemas.microsoft.com/office/drawing/2014/main" val="1848682824"/>
                    </a:ext>
                  </a:extLst>
                </a:gridCol>
              </a:tblGrid>
              <a:tr h="728980">
                <a:tc>
                  <a:txBody>
                    <a:bodyPr/>
                    <a:lstStyle/>
                    <a:p>
                      <a:pPr algn="l"/>
                      <a:r>
                        <a:rPr lang="fr-FR" sz="1700" b="1" dirty="0">
                          <a:solidFill>
                            <a:srgbClr val="FFFFFF"/>
                          </a:solidFill>
                          <a:latin typeface="Arial" panose="020B0604020202020204" pitchFamily="34" charset="0"/>
                        </a:rPr>
                        <a:t>Limite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Constat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Condition pour traiter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89385982"/>
                  </a:ext>
                </a:extLst>
              </a:tr>
              <a:tr h="728980">
                <a:tc>
                  <a:txBody>
                    <a:bodyPr/>
                    <a:lstStyle/>
                    <a:p>
                      <a:pPr algn="l"/>
                      <a:r>
                        <a:rPr lang="fr-FR" sz="1700" b="0" dirty="0">
                          <a:solidFill>
                            <a:srgbClr val="172F43"/>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Pic local du processus Python : 3,24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Chargement par lots obligatoire : 4 M tenseurs occupent ≈ 2,2 Tio. VM prévue : 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736333654"/>
                  </a:ext>
                </a:extLst>
              </a:tr>
              <a:tr h="728980">
                <a:tc>
                  <a:txBody>
                    <a:bodyPr/>
                    <a:lstStyle/>
                    <a:p>
                      <a:pPr algn="l"/>
                      <a:r>
                        <a:rPr lang="fr-FR" sz="1700" b="0" dirty="0">
                          <a:solidFill>
                            <a:srgbClr val="172F43"/>
                          </a:solidFill>
                          <a:latin typeface="Arial" panose="020B0604020202020204" pitchFamily="34" charset="0"/>
                        </a:rPr>
                        <a:t>Lecture et calcul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4 M petits fichiers peuvent ralentir la lecture et le décodage.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Tester le de.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481920787"/>
                  </a:ext>
                </a:extLst>
              </a:tr>
              <a:tr h="728980">
                <a:tc>
                  <a:txBody>
                    <a:bodyPr/>
                    <a:lstStyle/>
                    <a:p>
                      <a:pPr algn="l"/>
                      <a:r>
                        <a:rPr lang="fr-FR" sz="1700" b="0" dirty="0">
                          <a:solidFill>
                            <a:srgbClr val="172F43"/>
                          </a:solidFill>
                          <a:latin typeface="Arial" panose="020B0604020202020204" pitchFamily="34" charset="0"/>
                        </a:rPr>
                        <a:t>Taille des fichiers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Chiffrage pour des JPEG de 24,75 ko / image, soit ≈ 99 Go.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Mesurer les fichiers reçus : des PNG plus lourds augmenteraient le volume et la durée.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53109267"/>
                  </a:ext>
                </a:extLst>
              </a:tr>
              <a:tr h="728980">
                <a:tc>
                  <a:txBody>
                    <a:bodyPr/>
                    <a:lstStyle/>
                    <a:p>
                      <a:pPr algn="l"/>
                      <a:r>
                        <a:rPr lang="fr-FR" sz="1700" b="0" dirty="0">
                          <a:solidFill>
                            <a:srgbClr val="172F43"/>
                          </a:solidFill>
                          <a:latin typeface="Arial" panose="020B0604020202020204" pitchFamily="34" charset="0"/>
                        </a:rPr>
                        <a:t>Qualité des labels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Seulement 20 images connues sont réservées au test.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Vérifier la qualité sur un échantillon représentatif du nouveau </a:t>
                      </a:r>
                      <a:r>
                        <a:rPr lang="fr-FR" sz="1700" b="0" dirty="0" err="1">
                          <a:solidFill>
                            <a:srgbClr val="172F43"/>
                          </a:solidFill>
                          <a:latin typeface="Arial" panose="020B0604020202020204" pitchFamily="34" charset="0"/>
                        </a:rPr>
                        <a:t>dataset</a:t>
                      </a:r>
                      <a:r>
                        <a:rPr lang="fr-FR" sz="1700" b="0" dirty="0">
                          <a:solidFill>
                            <a:srgbClr val="172F43"/>
                          </a:solidFill>
                          <a:latin typeface="Arial" panose="020B0604020202020204" pitchFamily="34" charset="0"/>
                        </a:rPr>
                        <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29332114"/>
                  </a:ext>
                </a:extLst>
              </a:tr>
            </a:tbl>
          </a:graphicData>
        </a:graphic>
      </p:graphicFrame>
      <p:sp>
        <p:nvSpPr>
          <p:cNvPr id="7" name="ZoneTexte 6">
            <a:extLst>
              <a:ext uri="{FF2B5EF4-FFF2-40B4-BE49-F238E27FC236}">
                <a16:creationId xmlns:a16="http://schemas.microsoft.com/office/drawing/2014/main" id="{76FE1D48-151F-584C-7454-1B5C84FEC8F5}"/>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Conditions : débit et RAM à vérifier sur AWS ; données plus lourdes, réentraînements et contrôle humain à rechiffrer.</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2531</Words>
  <Application>Microsoft Office PowerPoint</Application>
  <PresentationFormat>Grand écran</PresentationFormat>
  <Paragraphs>335</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17</cp:revision>
  <dcterms:created xsi:type="dcterms:W3CDTF">2026-10-09T08:40:36Z</dcterms:created>
  <dcterms:modified xsi:type="dcterms:W3CDTF">2026-10-09T14:14:44Z</dcterms:modified>
</cp:coreProperties>
</file>