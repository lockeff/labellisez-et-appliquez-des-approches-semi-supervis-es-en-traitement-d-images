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officielles consultées le 9 octobre 2026 :</a:t>
            </a:r>
          </a:p>
          <a:p>
            <a:r>
              <a:rPr lang="fr-FR"/>
              <a:t>https://pricing.us-east-1.amazonaws.com/offers/v1.0/aws/AmazonEC2/current/eu-west-3/index.csv</a:t>
            </a:r>
          </a:p>
          <a:p>
            <a:r>
              <a:rPr lang="fr-FR"/>
              <a:t>Catalogue EC2 publié le 8 octobre 2026, tarifs effectifs au 1er octobre 2026 : Linux, tenancy Shared, OnDemand, eu-west-3, RunInstances, CapacityStatus Used. c6i.large : SKU B8Y99WMXMHSS82BK, 2 vCPU, 4 GiB, 0.101 USD/h. c6i.xlarge : SKU CKHYJHTXURYY5WKR, 4 vCPU, 8 GiB, 0.202 USD/h. EBS gp3 : SKU XCKADFE99D2BK5V6, 0.0928 USD/GiB-mois.</a:t>
            </a:r>
          </a:p>
          <a:p>
            <a:r>
              <a:rPr lang="fr-FR"/>
              <a:t>https://aws.amazon.com/ec2/pricing/on-demand/</a:t>
            </a:r>
          </a:p>
          <a:p>
            <a:r>
              <a:rPr lang="fr-FR"/>
              <a:t>https://docs.aws.amazon.com/ec2/latest/instancetypes/co.html</a:t>
            </a:r>
          </a:p>
          <a:p>
            <a:r>
              <a:rPr lang="fr-FR"/>
              <a:t>https://aws.amazon.com/ebs/pricing/</a:t>
            </a:r>
          </a:p>
          <a:p>
            <a:r>
              <a:rPr lang="fr-FR"/>
              <a:t>https://pricing.us-east-1.amazonaws.com/offers/v1.0/aws/AmazonS3/current/eu-west-3/index.json</a:t>
            </a:r>
          </a:p>
          <a:p>
            <a:r>
              <a:rPr lang="fr-FR"/>
              <a:t>Catalogue S3 publié le 28 septembre 2026. S3 Standard : 0.024 USD/GiB-mois. PUT : 0.0053 USD/1000. GET : 0.00042 USD/1000. Ici : 1506 fichiers sources, 37272490 octets, un envoi et une lecture par fichier, un mois de conservation. Coût S3 et requêtes = 0.009447425 USD.</a:t>
            </a:r>
          </a:p>
          <a:p>
            <a:r>
              <a:rPr lang="fr-FR"/>
              <a:t>https://aws.amazon.com/vpc/pricing/ : IPv4 publique 0.005 USD/h, allouée seulement pendant 10 h = 0.05 USD, aucune IP conservée à l'arrêt.</a:t>
            </a:r>
          </a:p>
          <a:p>
            <a:r>
              <a:rPr lang="fr-FR"/>
              <a:t>Calcul illustratif : 10*0.202 + 50*0.0928 + 0.05 + 0.009447425 = 6.719447425 USD HT. La provision de 10 h couvre création, extraction des embeddings, recherche d'hyperparamètres, entraînement et essais d'inférence ; elle n'est pas une mesure cloud. Une fois le temps mesuré, remplacer 10 h par la durée réelle. Installation et essais consomment aussi du temps de VM.</a:t>
            </a:r>
          </a:p>
          <a:p>
            <a:r>
              <a:rPr lang="fr-FR"/>
              <a:t>Sources projet : notebook actuel (CPU), présentation ouverte de l'utilisateur (PC Intel i9-14900K), énoncé de Clara. Le coût ne comprend pas le travail humain ni une annotation humaine. Les crédits gratuits ne sont pas déduits. TVA et conversion EUR/USD non incluses ; les budgets de mission sont en euros. Le mail ne permet pas d'établir si essais et stockage sont inclus : les inclure est une hypothèse de chiffrage à confirmer.</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tarifs AWS officiels Paris du 09/10/2026 cités dans les notes de la diapositive 11, mêmes instances et références de catalogues.</a:t>
            </a:r>
          </a:p>
          <a:p>
            <a:r>
              <a:rPr lang="fr-FR"/>
              <a:t>https://pricing.us-east-1.amazonaws.com/offers/v1.0/aws/AmazonEC2/current/eu-west-3/index.csv</a:t>
            </a:r>
          </a:p>
          <a:p>
            <a:r>
              <a:rPr lang="fr-FR"/>
              <a:t>https://pricing.us-east-1.amazonaws.com/offers/v1.0/aws/AmazonS3/current/eu-west-3/index.json</a:t>
            </a:r>
          </a:p>
          <a:p>
            <a:r>
              <a:rPr lang="fr-FR"/>
              <a:t>https://aws.amazon.com/s3/pricing/</a:t>
            </a:r>
          </a:p>
          <a:p>
            <a:r>
              <a:rPr lang="fr-FR"/>
              <a:t>https://aws.amazon.com/ebs/pricing/</a:t>
            </a:r>
          </a:p>
          <a:p>
            <a:r>
              <a:rPr lang="fr-FR"/>
              <a:t>https://aws.amazon.com/vpc/pricing/</a:t>
            </a:r>
          </a:p>
          <a:p>
            <a:r>
              <a:rPr lang="fr-FR"/>
              <a:t>Taille réellement observée : 1506 JPEG du dataset source, 37272490 octets, moyenne 24749.32934926959 octets. Hypothèse : mêmes tailles pour les nouvelles images. 4 M = 98997317397.07837 octets = 92.19843651827271 GiB. AWS S3 facture les GB selon la base binaire ; 0.024 USD par unité de 2^30 octets et par mois. Cette estimation serait à refaire pour des PNG ou des images plus grandes.</a:t>
            </a:r>
          </a:p>
          <a:p>
            <a:r>
              <a:rPr lang="fr-FR"/>
              <a:t>Scénario 1 : les 4 M images sont disponibles au début du mois 1 et conservées pendant 12 mois. S3 = 92.19843651827271 * 0.024 * 12 = 26.553149717262542 USD.</a:t>
            </a:r>
          </a:p>
          <a:p>
            <a:r>
              <a:rPr lang="fr-FR"/>
              <a:t>Scénario 2 : 400000 images arrivent au début de chacun des mois 1 à 10 ; elles sont conservées jusqu'à la fin du mois 12. Stock occupé = 0.1+0.2+...+1.0+1.0+1.0 = 7.5 fois le volume complet sur un mois. S3 = 92.19843651827271 * 0.024 * 7.5 = 16.59571857328909 USD. Il s'agit de 4 M sur une fenêtre de 12 mois, avec dix mois d'arrivées ; douze mois à 400000 donnent 4.8 M.</a:t>
            </a:r>
          </a:p>
          <a:p>
            <a:r>
              <a:rPr lang="fr-FR"/>
              <a:t>Calcul commun : un entraînement/ensemble d'essais initial, provision 10 h * 0.202 = 2.02 USD ; une seule prédiction par image, provision illustrative 30 h * 0.202 = 6.06 USD (équivalent à quatre fois l'estimation locale de 7.5 h, hypothèse de sensibilité et NON une vitesse mesurée ou garantie AWS). Les dix lots mensuels consomment au total ces mêmes 30 h, soit provision 3 h par lot. Pas de réentraînement mensuel supposé.</a:t>
            </a:r>
          </a:p>
          <a:p>
            <a:r>
              <a:rPr lang="fr-FR"/>
              <a:t>Un objet S3 par JPEG, un PUT et un GET par image : 4 M * (0.0000053 + 0.00000042) = 22.88 USD. Un CSV consolidé pour les labels. S3 et EC2 sont dans la même région ; entrée des données et transfert S3 vers EC2 de même région gratuits, requêtes payantes. Pas de rapatriement des 4 M images vers Internet ; télécharger les labels seulement. Pas de NAT Gateway, de versions supplémentaires ou de réplication. Les temps de transfert, d'installation et d'attente doivent être mesurés et sont à ajouter s'ils dépassent les provisions.</a:t>
            </a:r>
          </a:p>
          <a:p>
            <a:r>
              <a:rPr lang="fr-FR"/>
              <a:t>Disque gp3 de travail 50 GiB conservé 12 mois, traitement progressif des images : 50 * 0.0928 * 12 = 55.68 USD. Le disque de 50 GiB ne contient pas toutes les 4 M images à la fois. IPv4 éphémère pendant 40 h : 0.20 USD, aucune IP allouée au repos. La VM est arrêtée entre les traitements. Une c6i.xlarge laissée active 365 jours coûte 8760 * 0.202 = 1769.52 USD de calcul seul ; EBS reste facturé après arrêt tant que le volume existe.</a:t>
            </a:r>
          </a:p>
          <a:p>
            <a:r>
              <a:rPr lang="fr-FR"/>
              <a:t>Totaux non arrondis : 113.39314971726253 USD et 103.43571857328908 USD. L'hypothèse de conversion 1 USD = 1 EUR sert uniquement à situer les ordres de grandeur par rapport aux budgets en euros ; ce n'est pas le taux de change du jour. Taxes, travail humain, annotation humaine et support payant ne sont pas inclus. La provision de création est comprise dans ce scénario de 5000 EUR ; ne pas additionner automatiquement le budget du prototype de 300 EUR. Le périmètre précis de ces budgets reste à confirmer avec Clara.</a:t>
            </a:r>
          </a:p>
          <a:p>
            <a:r>
              <a:rPr lang="fr-FR"/>
              <a:t>Conclusion conditionnelle : la facture d'infrastructure peut être compatible avec 5000 EUR pour ces volumes et ces durées. Aucune garantie de coût réel, de vitesse AWS ou de qualité médicale n'en découle. Mesurer la chaîne après les changements demandés par le mentor avant de valider le chiffrage.</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expérimentale : notebook 01_exploration_dataset.ipynb, cellule finale de benchmark a3f5cc5d, résultat sauvegardé : 1000 images en 6.8 secondes sur cpu, estimation 4 M en 7.5 heures. time.perf_counter couvre read_image en RGB, prétraitement ImageNet, création des lots de 16, copie vers le périphérique et inférence du modèle supervisé avec no_grad/eval. Aucun benchmark cloud ni GPU n'est présent. La diapositive 10 de la présentation ouverte de l'utilisateur indique 6.7 s et 7.5 h ; elle est conservée sans modification. La valeur affichée ici est celle de la sortie sauvegardée du notebook. Une mesure sur 1000 fichiers en local peut bénéficier du cache ; l'extrapolation ne prouve pas le temps sur 4 M objets AWS.</a:t>
            </a:r>
          </a:p>
          <a:p>
            <a:r>
              <a:rPr lang="fr-FR"/>
              <a:t>RAM calculée, non mesurée : chaque image normalisée RGB en float32 de 224*224 représente 3*224*224*4 = 602112 octets. 4 M images = 2408448000000 octets = 2.1904706955 TiB, sans compter les listes, embeddings, modèles et buffers. L'étape d'extraction actuelle prépare une liste de toutes les images ; elle doit être adaptée à un chargement progressif pour ce volume. L'inférence finale du notebook traite déjà par lots de 16.</a:t>
            </a:r>
          </a:p>
          <a:p>
            <a:r>
              <a:rPr lang="fr-FR"/>
              <a:t>Sources GPU et prix :</a:t>
            </a:r>
          </a:p>
          <a:p>
            <a:r>
              <a:rPr lang="fr-FR"/>
              <a:t>https://aws.amazon.com/ec2/instance-types/g4/ : G4dn utilise NVIDIA T4.</a:t>
            </a:r>
          </a:p>
          <a:p>
            <a:r>
              <a:rPr lang="fr-FR"/>
              <a:t>https://pricing.us-east-1.amazonaws.com/offers/v1.0/aws/AmazonEC2/current/eu-west-3/index.csv : g4dn.xlarge Linux Shared OnDemand Paris, SKU H4KD74Z7H4KRNZMZ, 4 vCPU, 16 GiB, 1 GPU, 0.615 USD/h. c6i.xlarge : 0.202 USD/h. Seuil de rentabilité du calcul seul : 0.615/0.202 = 3.04455 fois le débit ; la recommandation arrondit à 3.1. Ne pas appliquer aux coûts fixes de stockage. Le GPU n'accélère pas nécessairement une lecture S3 ou un prétraitement séquentiel. Aucun gain mesuré n'est annoncé.</a:t>
            </a:r>
          </a:p>
          <a:p>
            <a:r>
              <a:rPr lang="fr-FR"/>
              <a:t>Les blocages sont des hypothèses à tester, pas des résultats de profilage. Égalisation des histogrammes, essai d'une représentation intermédiaire et contrôle du surapprentissage sont les demandes du mentor ; la présentation n'affirme pas qu'ils sont déjà implémentés. Chronométrer création (embeddings, recherche, entraînement) et inférence séparément, en incluant les temps de lecture et de préparation ; mesurer aussi les pics RAM. Le prétraitement des nouvelles images doit correspondre à celui du modèle final. Après tout changement de couche ou de prétraitement, refaire la mesure et vérifier la qualité sur le test réservé. La faisabilité financière ne constitue pas une validation clinique.</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Gel des couches </a:t>
            </a:r>
            <a:r>
              <a:rPr lang="fr-FR" dirty="0" err="1">
                <a:solidFill>
                  <a:srgbClr val="172F43"/>
                </a:solidFill>
                <a:latin typeface="Arial" panose="020B0604020202020204" pitchFamily="34" charset="0"/>
              </a:rPr>
              <a:t>convutionelles</a:t>
            </a:r>
            <a:endParaRPr lang="fr-FR" dirty="0">
              <a:solidFill>
                <a:srgbClr val="172F43"/>
              </a:solidFill>
              <a:latin typeface="Arial" panose="020B0604020202020204" pitchFamily="34" charset="0"/>
            </a:endParaRP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image est représentée par un vecteur de 512 dimensions. Chaque dimension est une </a:t>
            </a:r>
            <a:r>
              <a:rPr lang="fr-FR" dirty="0" err="1">
                <a:solidFill>
                  <a:srgbClr val="172F43"/>
                </a:solidFill>
                <a:latin typeface="Arial" panose="020B0604020202020204" pitchFamily="34" charset="0"/>
              </a:rPr>
              <a:t>feature</a:t>
            </a:r>
            <a:r>
              <a:rPr lang="fr-FR" dirty="0">
                <a:solidFill>
                  <a:srgbClr val="172F43"/>
                </a:solidFill>
                <a:latin typeface="Arial" panose="020B0604020202020204" pitchFamily="34" charset="0"/>
              </a:rPr>
              <a:t> de l’image</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Les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des images sont sauvegardées dans un CSV qui conserve également le chemin de l'image</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a:t>
            </a:r>
          </a:p>
        </p:txBody>
      </p:sp>
      <p:sp>
        <p:nvSpPr>
          <p:cNvPr id="14" name="ZoneTexte 13">
            <a:extLst>
              <a:ext uri="{FF2B5EF4-FFF2-40B4-BE49-F238E27FC236}">
                <a16:creationId xmlns:a16="http://schemas.microsoft.com/office/drawing/2014/main" id="{764E9EB7-F6D1-EC4A-2206-DC77B9D5AC0E}"/>
              </a:ext>
            </a:extLst>
          </p:cNvPr>
          <p:cNvSpPr txBox="1"/>
          <p:nvPr/>
        </p:nvSpPr>
        <p:spPr>
          <a:xfrm>
            <a:off x="1682622" y="6364908"/>
            <a:ext cx="8826755" cy="369332"/>
          </a:xfrm>
          <a:prstGeom prst="rect">
            <a:avLst/>
          </a:prstGeom>
          <a:noFill/>
        </p:spPr>
        <p:txBody>
          <a:bodyPr wrap="square">
            <a:spAutoFit/>
          </a:bodyPr>
          <a:lstStyle/>
          <a:p>
            <a:r>
              <a:rPr lang="fr-FR" b="1" dirty="0"/>
              <a:t>K-Means produit  le jeu de données “faiblement” labellisé  utilisé par la suite</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0.346271</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79 images fortes (train et validation)</a:t>
            </a:r>
          </a:p>
        </p:txBody>
      </p:sp>
      <p:sp>
        <p:nvSpPr>
          <p:cNvPr id="17" name="ZoneTexte 16">
            <a:extLst>
              <a:ext uri="{FF2B5EF4-FFF2-40B4-BE49-F238E27FC236}">
                <a16:creationId xmlns:a16="http://schemas.microsoft.com/office/drawing/2014/main" id="{8ACAE256-4728-59C9-ABF1-A1337B810F59}"/>
              </a:ext>
            </a:extLst>
          </p:cNvPr>
          <p:cNvSpPr txBox="1"/>
          <p:nvPr/>
        </p:nvSpPr>
        <p:spPr>
          <a:xfrm>
            <a:off x="1002789" y="5067693"/>
            <a:ext cx="6097022" cy="646331"/>
          </a:xfrm>
          <a:prstGeom prst="rect">
            <a:avLst/>
          </a:prstGeom>
          <a:noFill/>
        </p:spPr>
        <p:txBody>
          <a:bodyPr wrap="square">
            <a:spAutoFit/>
          </a:bodyPr>
          <a:lstStyle/>
          <a:p>
            <a:r>
              <a:rPr lang="fr-FR" dirty="0"/>
              <a:t>L’ARI de 0,346 montre une correspondance partielle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a:p>
            <a:r>
              <a:rPr lang="fr-FR" sz="2300" b="1" dirty="0">
                <a:solidFill>
                  <a:srgbClr val="172F43"/>
                </a:solidFill>
                <a:latin typeface="Arial" panose="020B0604020202020204" pitchFamily="34" charset="0"/>
              </a:rPr>
              <a:t>La recherche est réalisée</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331330757"/>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571897101"/>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faibles).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6096698" cy="2031325"/>
          </a:xfrm>
          <a:prstGeom prst="rect">
            <a:avLst/>
          </a:prstGeom>
          <a:noFill/>
        </p:spPr>
        <p:txBody>
          <a:bodyPr wrap="square">
            <a:spAutoFit/>
          </a:bodyPr>
          <a:lstStyle/>
          <a:p>
            <a:r>
              <a:rPr lang="fr-FR" sz="1800" b="0" i="0" dirty="0">
                <a:solidFill>
                  <a:schemeClr val="tx1"/>
                </a:solidFill>
                <a:effectLst/>
                <a:latin typeface="+mn-lt"/>
              </a:rPr>
              <a:t>Machine utilisée : I9 14900K </a:t>
            </a:r>
          </a:p>
          <a:p>
            <a:endParaRPr lang="fr-FR" dirty="0"/>
          </a:p>
          <a:p>
            <a:r>
              <a:rPr lang="fr-FR" sz="1800" b="0" i="0" dirty="0">
                <a:solidFill>
                  <a:schemeClr val="tx1"/>
                </a:solidFill>
                <a:effectLst/>
                <a:latin typeface="+mn-lt"/>
              </a:rPr>
              <a:t>Nombre d'images traitées : 1000 </a:t>
            </a:r>
          </a:p>
          <a:p>
            <a:endParaRPr lang="fr-FR" dirty="0"/>
          </a:p>
          <a:p>
            <a:r>
              <a:rPr lang="fr-FR" sz="1800" b="0" i="0" dirty="0">
                <a:solidFill>
                  <a:schemeClr val="tx1"/>
                </a:solidFill>
                <a:effectLst/>
                <a:latin typeface="+mn-lt"/>
              </a:rPr>
              <a:t>Durée mesurée : 6.7 secondes </a:t>
            </a:r>
          </a:p>
          <a:p>
            <a:endParaRPr lang="fr-FR" dirty="0"/>
          </a:p>
          <a:p>
            <a:r>
              <a:rPr lang="fr-FR" sz="1800" b="0" i="0" dirty="0">
                <a:solidFill>
                  <a:schemeClr val="tx1"/>
                </a:solidFill>
                <a:effectLst/>
                <a:latin typeface="+mn-lt"/>
              </a:rPr>
              <a:t>Estimation pour 4 millions : 7.5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4704BA00-990A-0694-385E-AF0A67EDCAA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AWS : machine et budget du prototype</a:t>
            </a:r>
          </a:p>
        </p:txBody>
      </p:sp>
      <p:cxnSp>
        <p:nvCxnSpPr>
          <p:cNvPr id="3" name="Connecteur droit 2">
            <a:extLst>
              <a:ext uri="{FF2B5EF4-FFF2-40B4-BE49-F238E27FC236}">
                <a16:creationId xmlns:a16="http://schemas.microsoft.com/office/drawing/2014/main" id="{55A741E4-494C-BD37-C552-334E5FC1833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3A190A67-78C7-C0F6-10AF-252227492A0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5" name="ZoneTexte 4">
            <a:extLst>
              <a:ext uri="{FF2B5EF4-FFF2-40B4-BE49-F238E27FC236}">
                <a16:creationId xmlns:a16="http://schemas.microsoft.com/office/drawing/2014/main" id="{FB7689CD-E9B1-1AA9-23CC-6CFF2B511CCC}"/>
              </a:ext>
            </a:extLst>
          </p:cNvPr>
          <p:cNvSpPr txBox="1"/>
          <p:nvPr/>
        </p:nvSpPr>
        <p:spPr>
          <a:xfrm>
            <a:off x="609600" y="1676399"/>
            <a:ext cx="6921500" cy="3810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Paris · Linux · paiement à l'usage</a:t>
            </a:r>
          </a:p>
        </p:txBody>
      </p:sp>
      <p:graphicFrame>
        <p:nvGraphicFramePr>
          <p:cNvPr id="6" name="Tableau 5">
            <a:extLst>
              <a:ext uri="{FF2B5EF4-FFF2-40B4-BE49-F238E27FC236}">
                <a16:creationId xmlns:a16="http://schemas.microsoft.com/office/drawing/2014/main" id="{85364E27-7498-8196-09AE-A86538571271}"/>
              </a:ext>
            </a:extLst>
          </p:cNvPr>
          <p:cNvGraphicFramePr>
            <a:graphicFrameLocks noGrp="1"/>
          </p:cNvGraphicFramePr>
          <p:nvPr>
            <p:extLst>
              <p:ext uri="{D42A27DB-BD31-4B8C-83A1-F6EECF244321}">
                <p14:modId xmlns:p14="http://schemas.microsoft.com/office/powerpoint/2010/main" val="4079271962"/>
              </p:ext>
            </p:extLst>
          </p:nvPr>
        </p:nvGraphicFramePr>
        <p:xfrm>
          <a:off x="609600" y="2273300"/>
          <a:ext cx="6921500" cy="14859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4216941638"/>
                    </a:ext>
                  </a:extLst>
                </a:gridCol>
                <a:gridCol w="863600">
                  <a:extLst>
                    <a:ext uri="{9D8B030D-6E8A-4147-A177-3AD203B41FA5}">
                      <a16:colId xmlns:a16="http://schemas.microsoft.com/office/drawing/2014/main" val="907353758"/>
                    </a:ext>
                  </a:extLst>
                </a:gridCol>
                <a:gridCol w="1333500">
                  <a:extLst>
                    <a:ext uri="{9D8B030D-6E8A-4147-A177-3AD203B41FA5}">
                      <a16:colId xmlns:a16="http://schemas.microsoft.com/office/drawing/2014/main" val="3617250281"/>
                    </a:ext>
                  </a:extLst>
                </a:gridCol>
                <a:gridCol w="1930400">
                  <a:extLst>
                    <a:ext uri="{9D8B030D-6E8A-4147-A177-3AD203B41FA5}">
                      <a16:colId xmlns:a16="http://schemas.microsoft.com/office/drawing/2014/main" val="1318060296"/>
                    </a:ext>
                  </a:extLst>
                </a:gridCol>
              </a:tblGrid>
              <a:tr h="495300">
                <a:tc>
                  <a:txBody>
                    <a:bodyPr/>
                    <a:lstStyle/>
                    <a:p>
                      <a:pPr algn="l"/>
                      <a:r>
                        <a:rPr lang="fr-FR" sz="1900" b="1" dirty="0">
                          <a:solidFill>
                            <a:srgbClr val="FFFFFF"/>
                          </a:solidFill>
                          <a:latin typeface="Arial" panose="020B0604020202020204" pitchFamily="34" charset="0"/>
                        </a:rPr>
                        <a:t>Machine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CPU</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Prix / h</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230603318"/>
                  </a:ext>
                </a:extLst>
              </a:tr>
              <a:tr h="495300">
                <a:tc>
                  <a:txBody>
                    <a:bodyPr/>
                    <a:lstStyle/>
                    <a:p>
                      <a:pPr algn="l"/>
                      <a:r>
                        <a:rPr lang="fr-FR" sz="1900" b="0" dirty="0">
                          <a:solidFill>
                            <a:srgbClr val="172F43"/>
                          </a:solidFill>
                          <a:latin typeface="Arial" panose="020B0604020202020204" pitchFamily="34" charset="0"/>
                        </a:rPr>
                        <a:t>c6i.large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4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0,101 $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569673122"/>
                  </a:ext>
                </a:extLst>
              </a:tr>
              <a:tr h="495300">
                <a:tc>
                  <a:txBody>
                    <a:bodyPr/>
                    <a:lstStyle/>
                    <a:p>
                      <a:pPr algn="l"/>
                      <a:r>
                        <a:rPr lang="fr-FR" sz="1900" b="0" dirty="0">
                          <a:solidFill>
                            <a:srgbClr val="172F43"/>
                          </a:solidFill>
                          <a:latin typeface="Arial" panose="020B0604020202020204" pitchFamily="34" charset="0"/>
                        </a:rPr>
                        <a:t>c6i.xlarge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0,202 $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117131195"/>
                  </a:ext>
                </a:extLst>
              </a:tr>
            </a:tbl>
          </a:graphicData>
        </a:graphic>
      </p:graphicFrame>
      <p:sp>
        <p:nvSpPr>
          <p:cNvPr id="7" name="ZoneTexte 6">
            <a:extLst>
              <a:ext uri="{FF2B5EF4-FFF2-40B4-BE49-F238E27FC236}">
                <a16:creationId xmlns:a16="http://schemas.microsoft.com/office/drawing/2014/main" id="{9A62AA7C-2886-855A-9141-33A16B13DA08}"/>
              </a:ext>
            </a:extLst>
          </p:cNvPr>
          <p:cNvSpPr txBox="1"/>
          <p:nvPr/>
        </p:nvSpPr>
        <p:spPr>
          <a:xfrm>
            <a:off x="609600" y="3987799"/>
            <a:ext cx="6921500" cy="9906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Point de départ proposé : c6i.xlarge. Le minimum utilisable et la durée doivent être vérifiés sur AWS.</a:t>
            </a:r>
          </a:p>
        </p:txBody>
      </p:sp>
      <p:sp>
        <p:nvSpPr>
          <p:cNvPr id="8" name="ZoneTexte 7">
            <a:extLst>
              <a:ext uri="{FF2B5EF4-FFF2-40B4-BE49-F238E27FC236}">
                <a16:creationId xmlns:a16="http://schemas.microsoft.com/office/drawing/2014/main" id="{2E8A4EFF-0EC0-D035-31C1-96D7283B73C4}"/>
              </a:ext>
            </a:extLst>
          </p:cNvPr>
          <p:cNvSpPr txBox="1"/>
          <p:nvPr/>
        </p:nvSpPr>
        <p:spPr>
          <a:xfrm>
            <a:off x="609600" y="5168899"/>
            <a:ext cx="6921500" cy="8763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Cette VM a moins de ressources CPU que le PC local i9-14900K : les 7,5 h locales ne sont pas une mesure AWS.</a:t>
            </a:r>
          </a:p>
        </p:txBody>
      </p:sp>
      <p:sp>
        <p:nvSpPr>
          <p:cNvPr id="9" name="Rectangle 8">
            <a:extLst>
              <a:ext uri="{FF2B5EF4-FFF2-40B4-BE49-F238E27FC236}">
                <a16:creationId xmlns:a16="http://schemas.microsoft.com/office/drawing/2014/main" id="{DB3B8ABD-84DB-64EA-ACF7-346411700065}"/>
              </a:ext>
            </a:extLst>
          </p:cNvPr>
          <p:cNvSpPr/>
          <p:nvPr/>
        </p:nvSpPr>
        <p:spPr>
          <a:xfrm>
            <a:off x="8102600" y="1689100"/>
            <a:ext cx="3479800" cy="6350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Budget actuel : 300 €</a:t>
            </a:r>
          </a:p>
        </p:txBody>
      </p:sp>
      <p:sp>
        <p:nvSpPr>
          <p:cNvPr id="10" name="ZoneTexte 9">
            <a:extLst>
              <a:ext uri="{FF2B5EF4-FFF2-40B4-BE49-F238E27FC236}">
                <a16:creationId xmlns:a16="http://schemas.microsoft.com/office/drawing/2014/main" id="{FB75850C-C45D-B4F4-2C48-5145EBEDFDB2}"/>
              </a:ext>
            </a:extLst>
          </p:cNvPr>
          <p:cNvSpPr txBox="1"/>
          <p:nvPr/>
        </p:nvSpPr>
        <p:spPr>
          <a:xfrm>
            <a:off x="8102600" y="2603499"/>
            <a:ext cx="3479800" cy="1676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Simulation pour le </a:t>
            </a:r>
            <a:r>
              <a:rPr lang="fr-FR" sz="1700" dirty="0" err="1">
                <a:solidFill>
                  <a:srgbClr val="172F43"/>
                </a:solidFill>
                <a:latin typeface="Arial" panose="020B0604020202020204" pitchFamily="34" charset="0"/>
              </a:rPr>
              <a:t>dataset</a:t>
            </a:r>
            <a:r>
              <a:rPr lang="fr-FR" sz="1700" dirty="0">
                <a:solidFill>
                  <a:srgbClr val="172F43"/>
                </a:solidFill>
                <a:latin typeface="Arial" panose="020B0604020202020204" pitchFamily="34" charset="0"/>
              </a:rPr>
              <a:t> actuel
10 h de création et d'essais : 2,02 $
50 Gio de disque, 1 mois : 4,64 $
S3, requêtes et IPv4 : 0,06 $</a:t>
            </a:r>
          </a:p>
        </p:txBody>
      </p:sp>
      <p:sp>
        <p:nvSpPr>
          <p:cNvPr id="11" name="ZoneTexte 10">
            <a:extLst>
              <a:ext uri="{FF2B5EF4-FFF2-40B4-BE49-F238E27FC236}">
                <a16:creationId xmlns:a16="http://schemas.microsoft.com/office/drawing/2014/main" id="{1F8BC2CC-D44E-2D29-3879-6246117BF2E0}"/>
              </a:ext>
            </a:extLst>
          </p:cNvPr>
          <p:cNvSpPr txBox="1"/>
          <p:nvPr/>
        </p:nvSpPr>
        <p:spPr>
          <a:xfrm>
            <a:off x="8102600" y="4495799"/>
            <a:ext cx="3479800" cy="762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Total illustratif : 6,72 $ HT</a:t>
            </a:r>
          </a:p>
        </p:txBody>
      </p:sp>
      <p:sp>
        <p:nvSpPr>
          <p:cNvPr id="12" name="ZoneTexte 11">
            <a:extLst>
              <a:ext uri="{FF2B5EF4-FFF2-40B4-BE49-F238E27FC236}">
                <a16:creationId xmlns:a16="http://schemas.microsoft.com/office/drawing/2014/main" id="{CAF1CBBF-5382-1B34-F107-6B7C29B4DA18}"/>
              </a:ext>
            </a:extLst>
          </p:cNvPr>
          <p:cNvSpPr txBox="1"/>
          <p:nvPr/>
        </p:nvSpPr>
        <p:spPr>
          <a:xfrm>
            <a:off x="8102600" y="5372099"/>
            <a:ext cx="3479800" cy="8763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mail ne précise pas si les essais sont compris : hypothèse retenue ici, à confirmer avec Clara.</a:t>
            </a:r>
          </a:p>
        </p:txBody>
      </p:sp>
      <p:sp>
        <p:nvSpPr>
          <p:cNvPr id="13" name="ZoneTexte 12">
            <a:extLst>
              <a:ext uri="{FF2B5EF4-FFF2-40B4-BE49-F238E27FC236}">
                <a16:creationId xmlns:a16="http://schemas.microsoft.com/office/drawing/2014/main" id="{82EA5AF2-1B6D-2E53-A9E5-DA5C9241F4AA}"/>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Tarifs AWS Paris au 09/10/2026, USD HT. Les 10 h sont une provision, pas un temps mesuré.</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A7DE1BD-775F-1300-CD72-E08A1E63771F}"/>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coût sur un an</a:t>
            </a:r>
          </a:p>
        </p:txBody>
      </p:sp>
      <p:cxnSp>
        <p:nvCxnSpPr>
          <p:cNvPr id="3" name="Connecteur droit 2">
            <a:extLst>
              <a:ext uri="{FF2B5EF4-FFF2-40B4-BE49-F238E27FC236}">
                <a16:creationId xmlns:a16="http://schemas.microsoft.com/office/drawing/2014/main" id="{F042D312-C111-C44B-50F3-B49D02B6CAA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E3FFA27-7E47-EF3B-F77F-E3C250E1D1F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5" name="ZoneTexte 4">
            <a:extLst>
              <a:ext uri="{FF2B5EF4-FFF2-40B4-BE49-F238E27FC236}">
                <a16:creationId xmlns:a16="http://schemas.microsoft.com/office/drawing/2014/main" id="{CF4D1BF7-BC52-BBDE-861C-4FBAC1BA8393}"/>
              </a:ext>
            </a:extLst>
          </p:cNvPr>
          <p:cNvSpPr txBox="1"/>
          <p:nvPr/>
        </p:nvSpPr>
        <p:spPr>
          <a:xfrm>
            <a:off x="609600" y="1689099"/>
            <a:ext cx="10972800" cy="5969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Hypothèses : JPEG de même taille moyenne (24,75 ko), soit ≈ 99 Go ; une copie conservée jusqu'au mois 12.</a:t>
            </a:r>
          </a:p>
        </p:txBody>
      </p:sp>
      <p:graphicFrame>
        <p:nvGraphicFramePr>
          <p:cNvPr id="6" name="Tableau 5">
            <a:extLst>
              <a:ext uri="{FF2B5EF4-FFF2-40B4-BE49-F238E27FC236}">
                <a16:creationId xmlns:a16="http://schemas.microsoft.com/office/drawing/2014/main" id="{2CBC816E-E3F1-3960-72CA-4F3113FD1B71}"/>
              </a:ext>
            </a:extLst>
          </p:cNvPr>
          <p:cNvGraphicFramePr>
            <a:graphicFrameLocks noGrp="1"/>
          </p:cNvGraphicFramePr>
          <p:nvPr>
            <p:extLst>
              <p:ext uri="{D42A27DB-BD31-4B8C-83A1-F6EECF244321}">
                <p14:modId xmlns:p14="http://schemas.microsoft.com/office/powerpoint/2010/main" val="1887028517"/>
              </p:ext>
            </p:extLst>
          </p:nvPr>
        </p:nvGraphicFramePr>
        <p:xfrm>
          <a:off x="609600" y="2451100"/>
          <a:ext cx="10972800" cy="3111500"/>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3873346970"/>
                    </a:ext>
                  </a:extLst>
                </a:gridCol>
                <a:gridCol w="2933700">
                  <a:extLst>
                    <a:ext uri="{9D8B030D-6E8A-4147-A177-3AD203B41FA5}">
                      <a16:colId xmlns:a16="http://schemas.microsoft.com/office/drawing/2014/main" val="3014013821"/>
                    </a:ext>
                  </a:extLst>
                </a:gridCol>
                <a:gridCol w="2933700">
                  <a:extLst>
                    <a:ext uri="{9D8B030D-6E8A-4147-A177-3AD203B41FA5}">
                      <a16:colId xmlns:a16="http://schemas.microsoft.com/office/drawing/2014/main" val="548899517"/>
                    </a:ext>
                  </a:extLst>
                </a:gridCol>
              </a:tblGrid>
              <a:tr h="444500">
                <a:tc>
                  <a:txBody>
                    <a:bodyPr/>
                    <a:lstStyle/>
                    <a:p>
                      <a:pPr algn="l"/>
                      <a:r>
                        <a:rPr lang="fr-FR" sz="1800" b="1" dirty="0">
                          <a:solidFill>
                            <a:srgbClr val="FFFFFF"/>
                          </a:solidFill>
                          <a:latin typeface="Arial" panose="020B0604020202020204" pitchFamily="34" charset="0"/>
                        </a:rPr>
                        <a:t>Poste · USD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4 M d'un coup</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400 000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868599037"/>
                  </a:ext>
                </a:extLst>
              </a:tr>
              <a:tr h="444500">
                <a:tc>
                  <a:txBody>
                    <a:bodyPr/>
                    <a:lstStyle/>
                    <a:p>
                      <a:pPr algn="l"/>
                      <a:r>
                        <a:rPr lang="fr-FR" sz="1800" b="0" dirty="0">
                          <a:solidFill>
                            <a:srgbClr val="172F43"/>
                          </a:solidFill>
                          <a:latin typeface="Arial" panose="020B0604020202020204" pitchFamily="34" charset="0"/>
                        </a:rPr>
                        <a:t>Création et essais · provision 10 h</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2,02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2,02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32264742"/>
                  </a:ext>
                </a:extLst>
              </a:tr>
              <a:tr h="444500">
                <a:tc>
                  <a:txBody>
                    <a:bodyPr/>
                    <a:lstStyle/>
                    <a:p>
                      <a:pPr algn="l"/>
                      <a:r>
                        <a:rPr lang="fr-FR" sz="1800" b="0" dirty="0">
                          <a:solidFill>
                            <a:srgbClr val="172F43"/>
                          </a:solidFill>
                          <a:latin typeface="Arial" panose="020B0604020202020204" pitchFamily="34" charset="0"/>
                        </a:rPr>
                        <a:t>Prédictions · provision 30 h au 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6,06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6,06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56514390"/>
                  </a:ext>
                </a:extLst>
              </a:tr>
              <a:tr h="444500">
                <a:tc>
                  <a:txBody>
                    <a:bodyPr/>
                    <a:lstStyle/>
                    <a:p>
                      <a:pPr algn="l"/>
                      <a:r>
                        <a:rPr lang="fr-FR" sz="1800" b="0" dirty="0">
                          <a:solidFill>
                            <a:srgbClr val="172F43"/>
                          </a:solidFill>
                          <a:latin typeface="Arial" panose="020B0604020202020204" pitchFamily="34" charset="0"/>
                        </a:rPr>
                        <a:t>4 M envois + 4 M lectures S3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22,88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22,88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63507823"/>
                  </a:ext>
                </a:extLst>
              </a:tr>
              <a:tr h="444500">
                <a:tc>
                  <a:txBody>
                    <a:bodyPr/>
                    <a:lstStyle/>
                    <a:p>
                      <a:pPr algn="l"/>
                      <a:r>
                        <a:rPr lang="fr-FR" sz="1800" b="0" dirty="0">
                          <a:solidFill>
                            <a:srgbClr val="172F43"/>
                          </a:solidFill>
                          <a:latin typeface="Arial" panose="020B0604020202020204" pitchFamily="34" charset="0"/>
                        </a:rPr>
                        <a:t>Images S3 · conservation sur un an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26,55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16,60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92362109"/>
                  </a:ext>
                </a:extLst>
              </a:tr>
              <a:tr h="444500">
                <a:tc>
                  <a:txBody>
                    <a:bodyPr/>
                    <a:lstStyle/>
                    <a:p>
                      <a:pPr algn="l"/>
                      <a:r>
                        <a:rPr lang="fr-FR" sz="1800" b="0" dirty="0">
                          <a:solidFill>
                            <a:srgbClr val="172F43"/>
                          </a:solidFill>
                          <a:latin typeface="Arial" panose="020B0604020202020204" pitchFamily="34" charset="0"/>
                        </a:rPr>
                        <a:t>Disque VM 50 Gio +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80540165"/>
                  </a:ext>
                </a:extLst>
              </a:tr>
              <a:tr h="444500">
                <a:tc>
                  <a:txBody>
                    <a:bodyPr/>
                    <a:lstStyle/>
                    <a:p>
                      <a:pPr algn="l"/>
                      <a:r>
                        <a:rPr lang="fr-FR" sz="1800" b="0" dirty="0">
                          <a:solidFill>
                            <a:srgbClr val="172F43"/>
                          </a:solidFill>
                          <a:latin typeface="Arial" panose="020B0604020202020204" pitchFamily="34" charset="0"/>
                        </a:rPr>
                        <a:t>TOTAL ILLUSTRATIF</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113,39 $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103,44 $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392410879"/>
                  </a:ext>
                </a:extLst>
              </a:tr>
            </a:tbl>
          </a:graphicData>
        </a:graphic>
      </p:graphicFrame>
      <p:sp>
        <p:nvSpPr>
          <p:cNvPr id="7" name="ZoneTexte 6">
            <a:extLst>
              <a:ext uri="{FF2B5EF4-FFF2-40B4-BE49-F238E27FC236}">
                <a16:creationId xmlns:a16="http://schemas.microsoft.com/office/drawing/2014/main" id="{DF29F937-349A-C5C7-C754-AEDDC31A7E25}"/>
              </a:ext>
            </a:extLst>
          </p:cNvPr>
          <p:cNvSpPr txBox="1"/>
          <p:nvPr/>
        </p:nvSpPr>
        <p:spPr>
          <a:xfrm>
            <a:off x="609600" y="5727699"/>
            <a:ext cx="10972800" cy="5080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400 000 / mois pendant 10 mois = 4 M. Éteindre la VM entre les lots ; sur 12 mois, ce rythme donnerait 4,8 M.</a:t>
            </a:r>
          </a:p>
        </p:txBody>
      </p:sp>
      <p:sp>
        <p:nvSpPr>
          <p:cNvPr id="8" name="ZoneTexte 7">
            <a:extLst>
              <a:ext uri="{FF2B5EF4-FFF2-40B4-BE49-F238E27FC236}">
                <a16:creationId xmlns:a16="http://schemas.microsoft.com/office/drawing/2014/main" id="{60B71087-A9C7-CB9D-799E-EB12708DF740}"/>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À 1 $ = 1 € (hypothèse, pas un taux vérifié) : ≈ 113 € / 103 € HT. Budget 5 000 € plausible sous ces conditions.</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47D75F1-3ED2-7ACA-8E19-A2DFCFB4892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7,5 heures : conditions et points bloquants</a:t>
            </a:r>
          </a:p>
        </p:txBody>
      </p:sp>
      <p:cxnSp>
        <p:nvCxnSpPr>
          <p:cNvPr id="3" name="Connecteur droit 2">
            <a:extLst>
              <a:ext uri="{FF2B5EF4-FFF2-40B4-BE49-F238E27FC236}">
                <a16:creationId xmlns:a16="http://schemas.microsoft.com/office/drawing/2014/main" id="{03D7C6BC-6DE5-D8BA-7D63-E8EF302193DB}"/>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2B985C1-B460-898E-E23F-F0545B989E2B}"/>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5" name="ZoneTexte 4">
            <a:extLst>
              <a:ext uri="{FF2B5EF4-FFF2-40B4-BE49-F238E27FC236}">
                <a16:creationId xmlns:a16="http://schemas.microsoft.com/office/drawing/2014/main" id="{A23C66A5-E58D-07EC-3A0A-3D943AE1A968}"/>
              </a:ext>
            </a:extLst>
          </p:cNvPr>
          <p:cNvSpPr txBox="1"/>
          <p:nvPr/>
        </p:nvSpPr>
        <p:spPr>
          <a:xfrm>
            <a:off x="609600" y="17017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Mesure locale : 1 000 images en 6,8 s → estimation de 7,5 h pour 4 M. Lecture, prétraitement et prédiction inclus.</a:t>
            </a:r>
          </a:p>
        </p:txBody>
      </p:sp>
      <p:sp>
        <p:nvSpPr>
          <p:cNvPr id="6" name="Rectangle 5">
            <a:extLst>
              <a:ext uri="{FF2B5EF4-FFF2-40B4-BE49-F238E27FC236}">
                <a16:creationId xmlns:a16="http://schemas.microsoft.com/office/drawing/2014/main" id="{41FB3324-C002-2000-F081-DCB655A50614}"/>
              </a:ext>
            </a:extLst>
          </p:cNvPr>
          <p:cNvSpPr/>
          <p:nvPr/>
        </p:nvSpPr>
        <p:spPr>
          <a:xfrm>
            <a:off x="6096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Lire les images</a:t>
            </a:r>
          </a:p>
        </p:txBody>
      </p:sp>
      <p:sp>
        <p:nvSpPr>
          <p:cNvPr id="7" name="Rectangle 6">
            <a:extLst>
              <a:ext uri="{FF2B5EF4-FFF2-40B4-BE49-F238E27FC236}">
                <a16:creationId xmlns:a16="http://schemas.microsoft.com/office/drawing/2014/main" id="{C0F3B77F-7B1A-0E95-16CA-BD22E9A85ABD}"/>
              </a:ext>
            </a:extLst>
          </p:cNvPr>
          <p:cNvSpPr/>
          <p:nvPr/>
        </p:nvSpPr>
        <p:spPr>
          <a:xfrm>
            <a:off x="34544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Prétraiter</a:t>
            </a:r>
          </a:p>
        </p:txBody>
      </p:sp>
      <p:sp>
        <p:nvSpPr>
          <p:cNvPr id="8" name="Rectangle 7">
            <a:extLst>
              <a:ext uri="{FF2B5EF4-FFF2-40B4-BE49-F238E27FC236}">
                <a16:creationId xmlns:a16="http://schemas.microsoft.com/office/drawing/2014/main" id="{992783AC-89C5-C0B7-229B-9C25B68A0ECD}"/>
              </a:ext>
            </a:extLst>
          </p:cNvPr>
          <p:cNvSpPr/>
          <p:nvPr/>
        </p:nvSpPr>
        <p:spPr>
          <a:xfrm>
            <a:off x="62992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Prédire · CNN</a:t>
            </a:r>
          </a:p>
        </p:txBody>
      </p:sp>
      <p:sp>
        <p:nvSpPr>
          <p:cNvPr id="9" name="Rectangle 8">
            <a:extLst>
              <a:ext uri="{FF2B5EF4-FFF2-40B4-BE49-F238E27FC236}">
                <a16:creationId xmlns:a16="http://schemas.microsoft.com/office/drawing/2014/main" id="{11A5221C-5DFB-6049-709F-80FBE57785EE}"/>
              </a:ext>
            </a:extLst>
          </p:cNvPr>
          <p:cNvSpPr/>
          <p:nvPr/>
        </p:nvSpPr>
        <p:spPr>
          <a:xfrm>
            <a:off x="91440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Labels · CSV</a:t>
            </a:r>
          </a:p>
        </p:txBody>
      </p:sp>
      <p:cxnSp>
        <p:nvCxnSpPr>
          <p:cNvPr id="10" name="Connecteur droit avec flèche 9">
            <a:extLst>
              <a:ext uri="{FF2B5EF4-FFF2-40B4-BE49-F238E27FC236}">
                <a16:creationId xmlns:a16="http://schemas.microsoft.com/office/drawing/2014/main" id="{6076070A-5BAC-F7B9-788E-2F5E047DDCAA}"/>
              </a:ext>
            </a:extLst>
          </p:cNvPr>
          <p:cNvCxnSpPr/>
          <p:nvPr/>
        </p:nvCxnSpPr>
        <p:spPr>
          <a:xfrm>
            <a:off x="3136900" y="2908300"/>
            <a:ext cx="2413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2D49D51B-33D7-D4BB-7347-F6F6B317FFFA}"/>
              </a:ext>
            </a:extLst>
          </p:cNvPr>
          <p:cNvCxnSpPr/>
          <p:nvPr/>
        </p:nvCxnSpPr>
        <p:spPr>
          <a:xfrm>
            <a:off x="5981700" y="2908300"/>
            <a:ext cx="2413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2FEC9BD9-0662-A5EC-AADC-3BB1FC3A4E52}"/>
              </a:ext>
            </a:extLst>
          </p:cNvPr>
          <p:cNvCxnSpPr/>
          <p:nvPr/>
        </p:nvCxnSpPr>
        <p:spPr>
          <a:xfrm>
            <a:off x="8826500" y="2908300"/>
            <a:ext cx="2413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15385AEC-54E1-7ABC-1BC0-059A07273F37}"/>
              </a:ext>
            </a:extLst>
          </p:cNvPr>
          <p:cNvSpPr txBox="1"/>
          <p:nvPr/>
        </p:nvSpPr>
        <p:spPr>
          <a:xfrm>
            <a:off x="609600" y="3517899"/>
            <a:ext cx="5194300" cy="3429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Lecture et CPU</a:t>
            </a:r>
          </a:p>
        </p:txBody>
      </p:sp>
      <p:sp>
        <p:nvSpPr>
          <p:cNvPr id="14" name="ZoneTexte 13">
            <a:extLst>
              <a:ext uri="{FF2B5EF4-FFF2-40B4-BE49-F238E27FC236}">
                <a16:creationId xmlns:a16="http://schemas.microsoft.com/office/drawing/2014/main" id="{CEB445C7-508D-D3D1-0C8A-AC71744132EC}"/>
              </a:ext>
            </a:extLst>
          </p:cNvPr>
          <p:cNvSpPr txBox="1"/>
          <p:nvPr/>
        </p:nvSpPr>
        <p:spPr>
          <a:xfrm>
            <a:off x="609600" y="4013199"/>
            <a:ext cx="5194300" cy="10795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Petits fichiers S3, décodage JPEG et prétraitement peuvent freiner la chaîne. Charger les lots en parallèle, puis mesurer le gain.</a:t>
            </a:r>
          </a:p>
        </p:txBody>
      </p:sp>
      <p:sp>
        <p:nvSpPr>
          <p:cNvPr id="15" name="ZoneTexte 14">
            <a:extLst>
              <a:ext uri="{FF2B5EF4-FFF2-40B4-BE49-F238E27FC236}">
                <a16:creationId xmlns:a16="http://schemas.microsoft.com/office/drawing/2014/main" id="{A011A776-DD9E-8DDC-B714-F85C27515475}"/>
              </a:ext>
            </a:extLst>
          </p:cNvPr>
          <p:cNvSpPr txBox="1"/>
          <p:nvPr/>
        </p:nvSpPr>
        <p:spPr>
          <a:xfrm>
            <a:off x="609600" y="5295899"/>
            <a:ext cx="5194300" cy="8763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RAM : traiter par lots. Charger 4 M images normalisées à la fois demanderait environ 2,2 Tio, hors autres données.</a:t>
            </a:r>
          </a:p>
        </p:txBody>
      </p:sp>
      <p:sp>
        <p:nvSpPr>
          <p:cNvPr id="16" name="ZoneTexte 15">
            <a:extLst>
              <a:ext uri="{FF2B5EF4-FFF2-40B4-BE49-F238E27FC236}">
                <a16:creationId xmlns:a16="http://schemas.microsoft.com/office/drawing/2014/main" id="{57CAF5E9-BB2A-2B30-97CF-0504C3F8E1C9}"/>
              </a:ext>
            </a:extLst>
          </p:cNvPr>
          <p:cNvSpPr txBox="1"/>
          <p:nvPr/>
        </p:nvSpPr>
        <p:spPr>
          <a:xfrm>
            <a:off x="6388100" y="3517899"/>
            <a:ext cx="5194300" cy="3429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GPU : une option à tester</a:t>
            </a:r>
          </a:p>
        </p:txBody>
      </p:sp>
      <p:sp>
        <p:nvSpPr>
          <p:cNvPr id="17" name="ZoneTexte 16">
            <a:extLst>
              <a:ext uri="{FF2B5EF4-FFF2-40B4-BE49-F238E27FC236}">
                <a16:creationId xmlns:a16="http://schemas.microsoft.com/office/drawing/2014/main" id="{258FAB75-2803-57C7-0741-A905300D3261}"/>
              </a:ext>
            </a:extLst>
          </p:cNvPr>
          <p:cNvSpPr txBox="1"/>
          <p:nvPr/>
        </p:nvSpPr>
        <p:spPr>
          <a:xfrm>
            <a:off x="6388100" y="4013199"/>
            <a:ext cx="5194300" cy="1092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g4dn.xlarge · NVIDIA T4 : 0,615 $/h. Il faut environ 3,1 fois plus de débit que la VM CPU à 0,202 $/h pour réduire le coût de calcul.</a:t>
            </a:r>
          </a:p>
        </p:txBody>
      </p:sp>
      <p:sp>
        <p:nvSpPr>
          <p:cNvPr id="18" name="ZoneTexte 17">
            <a:extLst>
              <a:ext uri="{FF2B5EF4-FFF2-40B4-BE49-F238E27FC236}">
                <a16:creationId xmlns:a16="http://schemas.microsoft.com/office/drawing/2014/main" id="{BFF5F9C5-08FB-6FE9-A18F-4DA54549043B}"/>
              </a:ext>
            </a:extLst>
          </p:cNvPr>
          <p:cNvSpPr txBox="1"/>
          <p:nvPr/>
        </p:nvSpPr>
        <p:spPr>
          <a:xfrm>
            <a:off x="6388100" y="5295899"/>
            <a:ext cx="5194300" cy="9144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Pilote AWS : mesurer durée et pic RAM séparément pour la création du modèle et le traitement final, après les ajouts du mentor.</a:t>
            </a:r>
          </a:p>
        </p:txBody>
      </p:sp>
      <p:sp>
        <p:nvSpPr>
          <p:cNvPr id="19" name="ZoneTexte 18">
            <a:extLst>
              <a:ext uri="{FF2B5EF4-FFF2-40B4-BE49-F238E27FC236}">
                <a16:creationId xmlns:a16="http://schemas.microsoft.com/office/drawing/2014/main" id="{7C1F5F94-2591-DA67-4053-32132BF5C268}"/>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temps cloud et les pics RAM restent à mesurer. Les 7,5 h excluent l'entraînement et le transfert initial vers AWS.</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TotalTime>
  <Words>3091</Words>
  <Application>Microsoft Office PowerPoint</Application>
  <PresentationFormat>Grand écran</PresentationFormat>
  <Paragraphs>324</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8</cp:revision>
  <dcterms:created xsi:type="dcterms:W3CDTF">2026-10-09T08:40:36Z</dcterms:created>
  <dcterms:modified xsi:type="dcterms:W3CDTF">2026-10-09T11:39:51Z</dcterms:modified>
</cp:coreProperties>
</file>