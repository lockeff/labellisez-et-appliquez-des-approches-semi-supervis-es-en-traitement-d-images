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étapes 2. Cellules mentor-egalisation, 375b1310, 2690bd6b, 0f6b5cdd et sauvegarde-features-csv. La fonction torchvision.transforms.functional.equalize traite les pixels uint8 RGB puis poids.transforms() applique le prétraitement ImageNet. Ce traitement est commun à l'extraction des embeddings et aux images utilisées par les CNN, ainsi qu'à l'inférence finale. Il ne convertit pas en niveaux de gris et n'élimine pas une catégorie d'images. Aucun bénéfice clinique ni gain isolé de performance de l'égalisation n'a été mesuré. La comparaison des couches utilise le même prétraitement égalisé. Le CSV principal conserve les embeddings habituels layer4, 512 dimensions.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étapes 3.5 à 3.9, après égalisation. Graphique natif : coordonnées PCA recalculées depuis le CSV enregistré, avec les mêmes splits, StandardScaler, PCA(n_components=2, random_state=42), KMeans(n_clusters=2, random_state=42). Groupes : 565 et 483. Tableau : neuf essais DBSCAN du notebook. eps=0.5/min_samples=10 produit deux groupes mais 1028/1048 points hors groupe. K-Means conserve donc la labellisation faible utilisée par la suite.</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01_exploration_dataset.ipynb, mentor-intermediaire-extraction, mentor-intermediaire-ari et comparaison_embeddings. Extraction habituelle : conv1 à layer4, moyenne spatiale et aplatissement, 512 nombres par image. Extraction intermédiaire : conv1 à layer3, AdaptiveAvgPool2d((1,1)) et Flatten(), 256 nombres par image. Les deux matrices contiennent les mêmes 1410 images, dans le même ordre. Chaque représentation a son propre StandardScaler, sa PCA et son KMeans, ajustés uniquement sur les mêmes 1048 images sans_label_train. Pour l'ARI, les transformations utilisent transform et les groupes predict sur les 79 images fortes de train et validation (63+16). Les 20 images fortes de test ne servent pas à ce choix. Résultats affichés : layer4 0.3772887757615568, layer3 0.033925049309664695. 0.3773 est un indice ajusté pour le hasard, pas 37.73% de bonnes prédictions. Le CSV principal et la labellisation faible continuent d'utiliser layer4. La matrice intermédiaire est un essai distinct de clustering, pas une nouvelle entrée du CNN. Les groupes 0 et 1 ne signifient pas automatiquement normal et cancer. Cette expérience ne démontre pas qu'une couche est meilleure pour tous les jeux de données.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hyperparametres-semi-recherche et hyperparametres-supervise-recherche, après égalisation. Phase faible : lr=0.001, 5 ou 10 époques, accuracy=1.0 sur les groupes K-Means des 16 images de validation existantes. Ce score mesure l'accord aux pseudo-labels et non la justesse médicale. Égalité : conserver 5 époques. La recherche forte semi reprend ce meilleur modèle faible pour chaque essai. Grille forte commune : lr=0.0001 ou 0.001, 5 ou 10 époques, comparaison du F2 cancer sur les mêmes 16 labels forts de validation. Choix : lr=0.001 et 10 époques dans les deux méthodes. F2 de validation : 0.9524 semi, 0.9756 supervisé. Test final distinct : 20 images. Les numéros de page reflètent la position réelle des slides.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entraînement faible, fort semi-supervisé et supervisé après égalisation. 1048 labels faibles, 5 époques, puis 63 labels forts, 10 époques. Taux=0.001 pour les trois phases finales. Test faible sur 263 images avec cibles K-Means : accuracy arrondie 0.977, mesure de reproduction des groupes. Les deux modèles finaux utilisent le même test fort de 20 images. Les images reçoivent le prétraitement égalisé. L'essai des embeddings layer3 reste limité au clustering et ne modifie pas le CNN final.</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enregistré, comparaison finale après égalisation. Test fort=20 images, 10 normal et 10 cancer, jamais utilisées pour entraîner ou sélectionner les CNN. Semi : accuracy .85, F1 .8421052631578947, précision .8888888888888888, rappel .8, F2 .8163265306122449, confusion [[9,1],[2,8]]. Supervisé : tous ces scores .9, confusion [[9,1],[1,9]]. Le supervisé reconnaît une image cancéreuse de plus et produit le même nombre de faux positifs. Ce petit test est exploratoire et ne constitue pas une validation clinique.</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 : notebook enregistré, a3f5cc5d. Prédiction locale de 1000 images en 7.3758490000036545 secondes, lecture RGB, égalisation, prétraitement ImageNet, lots de 16 et CNN supervisé déjà entraîné. Extrapolation linéaire : 8.19538777778184 h pour 4 M. Il s'agit d'une estimation locale, pas d'un benchmark AWS. Les coûts des slides suivantes conservent cette durée comme hypothèse à vérifier.</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756361122"/>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valeurs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1 410 images : 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Comparer deux représentations des mêmes 1 410 images. Après chaque couche, une moyenne spatiale produit un vecteur par image.</a:t>
            </a: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526827971"/>
              </p:ext>
            </p:extLst>
          </p:nvPr>
        </p:nvGraphicFramePr>
        <p:xfrm>
          <a:off x="609600" y="2641600"/>
          <a:ext cx="10972800" cy="16002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Habituelle : 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0" name="ZoneTexte 19">
            <a:extLst>
              <a:ext uri="{FF2B5EF4-FFF2-40B4-BE49-F238E27FC236}">
                <a16:creationId xmlns:a16="http://schemas.microsoft.com/office/drawing/2014/main" id="{556AFAAE-6743-B993-5003-DDE9697CBBF2}"/>
              </a:ext>
            </a:extLst>
          </p:cNvPr>
          <p:cNvSpPr txBox="1"/>
          <p:nvPr/>
        </p:nvSpPr>
        <p:spPr>
          <a:xfrm>
            <a:off x="609600" y="4508499"/>
            <a:ext cx="10972800" cy="6985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Même protocole : standardisation, PCA à 2 dimensions, K-Means à 2 groupes. Apprentissage sur le train sans label uniquement.</a:t>
            </a:r>
          </a:p>
        </p:txBody>
      </p:sp>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698500"/>
          </a:xfrm>
          <a:prstGeom prst="rect">
            <a:avLst/>
          </a:prstGeom>
          <a:noFill/>
        </p:spPr>
        <p:txBody>
          <a:bodyPr vert="horz" wrap="square" lIns="0" tIns="0" rIns="0" bIns="0" rtlCol="0">
            <a:noAutofit/>
          </a:bodyPr>
          <a:lstStyle/>
          <a:p>
            <a:r>
              <a:rPr lang="fr-FR" sz="1900" b="1">
                <a:solidFill>
                  <a:srgbClr val="172F43"/>
                </a:solidFill>
                <a:latin typeface="Arial" panose="020B0604020202020204" pitchFamily="34" charset="0"/>
              </a:rPr>
              <a:t>D'abord les époques faibles, puis la grille forte pour les deux méthodes.</a:t>
            </a:r>
            <a:endParaRPr lang="fr-FR" sz="1900" b="1" dirty="0">
              <a:solidFill>
                <a:srgbClr val="172F43"/>
              </a:solidFill>
              <a:latin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836775531"/>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962936743"/>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a:solidFill>
                            <a:srgbClr val="FFFFFF"/>
                          </a:solidFill>
                          <a:latin typeface="Arial" panose="020B0604020202020204" pitchFamily="34" charset="0"/>
                        </a:rPr>
                        <a:t>Accuracy faible</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10414000" cy="2540000"/>
          </a:xfrm>
          <a:prstGeom prst="rect">
            <a:avLst/>
          </a:prstGeom>
          <a:noFill/>
        </p:spPr>
        <p:txBody>
          <a:bodyPr wrap="square">
            <a:spAutoFit/>
          </a:bodyPr>
          <a:lstStyle/>
          <a:p>
            <a:r>
              <a:rPr lang="fr-FR" sz="1800" b="0" i="0">
                <a:solidFill>
                  <a:schemeClr val="tx1"/>
                </a:solidFill>
                <a:effectLst/>
                <a:latin typeface="+mn-lt"/>
              </a:rPr>
              <a:t>Machine utilisée : i9-14900K, CPU local
Après égalisation : 1 000 images en 7,4 s
Estimation pour 4 millions : 8,2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503CC-BBC1-E281-D52D-080DED4427A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3" name="ZoneTexte 2">
            <a:extLst>
              <a:ext uri="{FF2B5EF4-FFF2-40B4-BE49-F238E27FC236}">
                <a16:creationId xmlns:a16="http://schemas.microsoft.com/office/drawing/2014/main" id="{413D2057-06A0-49B0-7E8E-DF3C5A98D0E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4" name="Connecteur droit 3">
            <a:extLst>
              <a:ext uri="{FF2B5EF4-FFF2-40B4-BE49-F238E27FC236}">
                <a16:creationId xmlns:a16="http://schemas.microsoft.com/office/drawing/2014/main" id="{167A8080-C939-4AAC-F496-B2FA42F9D0B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E1E383AD-88FC-82C0-AF9D-61C6631430E3}"/>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6" name="Tableau 5">
            <a:extLst>
              <a:ext uri="{FF2B5EF4-FFF2-40B4-BE49-F238E27FC236}">
                <a16:creationId xmlns:a16="http://schemas.microsoft.com/office/drawing/2014/main" id="{56D805C0-7133-C8F1-E207-7662BAD785D5}"/>
              </a:ext>
            </a:extLst>
          </p:cNvPr>
          <p:cNvGraphicFramePr>
            <a:graphicFrameLocks noGrp="1"/>
          </p:cNvGraphicFramePr>
          <p:nvPr>
            <p:extLst>
              <p:ext uri="{D42A27DB-BD31-4B8C-83A1-F6EECF244321}">
                <p14:modId xmlns:p14="http://schemas.microsoft.com/office/powerpoint/2010/main" val="1422896126"/>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2126231453"/>
                    </a:ext>
                  </a:extLst>
                </a:gridCol>
                <a:gridCol w="2425700">
                  <a:extLst>
                    <a:ext uri="{9D8B030D-6E8A-4147-A177-3AD203B41FA5}">
                      <a16:colId xmlns:a16="http://schemas.microsoft.com/office/drawing/2014/main" val="2735647876"/>
                    </a:ext>
                  </a:extLst>
                </a:gridCol>
                <a:gridCol w="3632200">
                  <a:extLst>
                    <a:ext uri="{9D8B030D-6E8A-4147-A177-3AD203B41FA5}">
                      <a16:colId xmlns:a16="http://schemas.microsoft.com/office/drawing/2014/main" val="3457705466"/>
                    </a:ext>
                  </a:extLst>
                </a:gridCol>
                <a:gridCol w="1701800">
                  <a:extLst>
                    <a:ext uri="{9D8B030D-6E8A-4147-A177-3AD203B41FA5}">
                      <a16:colId xmlns:a16="http://schemas.microsoft.com/office/drawing/2014/main" val="1837356249"/>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955420173"/>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8745357"/>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2131960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72978847"/>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15766142"/>
                  </a:ext>
                </a:extLst>
              </a:tr>
            </a:tbl>
          </a:graphicData>
        </a:graphic>
      </p:graphicFrame>
      <p:sp>
        <p:nvSpPr>
          <p:cNvPr id="7" name="ZoneTexte 6">
            <a:extLst>
              <a:ext uri="{FF2B5EF4-FFF2-40B4-BE49-F238E27FC236}">
                <a16:creationId xmlns:a16="http://schemas.microsoft.com/office/drawing/2014/main" id="{C432A5C9-12EA-DA99-0FCB-2F9512AC8DF2}"/>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8" name="ZoneTexte 7">
            <a:extLst>
              <a:ext uri="{FF2B5EF4-FFF2-40B4-BE49-F238E27FC236}">
                <a16:creationId xmlns:a16="http://schemas.microsoft.com/office/drawing/2014/main" id="{212ACBF9-EE04-D6BB-D6A2-52FB4534643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05DED1B-349B-C9E5-7EC5-23CA9D7782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3" name="ZoneTexte 2">
            <a:extLst>
              <a:ext uri="{FF2B5EF4-FFF2-40B4-BE49-F238E27FC236}">
                <a16:creationId xmlns:a16="http://schemas.microsoft.com/office/drawing/2014/main" id="{4777E6CD-C65A-EBC2-C3BB-449671BF828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4" name="Connecteur droit 3">
            <a:extLst>
              <a:ext uri="{FF2B5EF4-FFF2-40B4-BE49-F238E27FC236}">
                <a16:creationId xmlns:a16="http://schemas.microsoft.com/office/drawing/2014/main" id="{6A856810-1B84-C646-0855-A23AB711FDD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A4B6A669-39BF-7B9E-FC91-1DECCE736412}"/>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6" name="Tableau 5">
            <a:extLst>
              <a:ext uri="{FF2B5EF4-FFF2-40B4-BE49-F238E27FC236}">
                <a16:creationId xmlns:a16="http://schemas.microsoft.com/office/drawing/2014/main" id="{20C25E09-528B-6938-069B-34D0D4888C26}"/>
              </a:ext>
            </a:extLst>
          </p:cNvPr>
          <p:cNvGraphicFramePr>
            <a:graphicFrameLocks noGrp="1"/>
          </p:cNvGraphicFramePr>
          <p:nvPr>
            <p:extLst>
              <p:ext uri="{D42A27DB-BD31-4B8C-83A1-F6EECF244321}">
                <p14:modId xmlns:p14="http://schemas.microsoft.com/office/powerpoint/2010/main" val="2437748671"/>
              </p:ext>
            </p:extLst>
          </p:nvPr>
        </p:nvGraphicFramePr>
        <p:xfrm>
          <a:off x="609600" y="2438400"/>
          <a:ext cx="10972800" cy="3200400"/>
        </p:xfrm>
        <a:graphic>
          <a:graphicData uri="http://schemas.openxmlformats.org/drawingml/2006/table">
            <a:tbl>
              <a:tblPr firstRow="1" bandRow="1">
                <a:tableStyleId>{5C22544A-7EE6-4342-B048-85BDC9FD1C3A}</a:tableStyleId>
              </a:tblPr>
              <a:tblGrid>
                <a:gridCol w="5054600">
                  <a:extLst>
                    <a:ext uri="{9D8B030D-6E8A-4147-A177-3AD203B41FA5}">
                      <a16:colId xmlns:a16="http://schemas.microsoft.com/office/drawing/2014/main" val="96676634"/>
                    </a:ext>
                  </a:extLst>
                </a:gridCol>
                <a:gridCol w="2819400">
                  <a:extLst>
                    <a:ext uri="{9D8B030D-6E8A-4147-A177-3AD203B41FA5}">
                      <a16:colId xmlns:a16="http://schemas.microsoft.com/office/drawing/2014/main" val="1379826535"/>
                    </a:ext>
                  </a:extLst>
                </a:gridCol>
                <a:gridCol w="3098800">
                  <a:extLst>
                    <a:ext uri="{9D8B030D-6E8A-4147-A177-3AD203B41FA5}">
                      <a16:colId xmlns:a16="http://schemas.microsoft.com/office/drawing/2014/main" val="4030880562"/>
                    </a:ext>
                  </a:extLst>
                </a:gridCol>
              </a:tblGrid>
              <a:tr h="596900">
                <a:tc>
                  <a:txBody>
                    <a:bodyPr/>
                    <a:lstStyle/>
                    <a:p>
                      <a:pPr algn="l"/>
                      <a:r>
                        <a:rPr lang="fr-FR" sz="1700" b="1" dirty="0">
                          <a:solidFill>
                            <a:srgbClr val="FFFFFF"/>
                          </a:solidFill>
                          <a:latin typeface="Arial" panose="020B0604020202020204" pitchFamily="34" charset="0"/>
                        </a:rPr>
                        <a:t>Dépense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Glissant, année 1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63144696"/>
                  </a:ext>
                </a:extLst>
              </a:tr>
              <a:tr h="596900">
                <a:tc>
                  <a:txBody>
                    <a:bodyPr/>
                    <a:lstStyle/>
                    <a:p>
                      <a:pPr algn="l"/>
                      <a:r>
                        <a:rPr lang="fr-FR" sz="1700" b="0" dirty="0">
                          <a:solidFill>
                            <a:srgbClr val="172F43"/>
                          </a:solidFill>
                          <a:latin typeface="Arial" panose="020B0604020202020204" pitchFamily="34" charset="0"/>
                        </a:rPr>
                        <a:t>Machine : 0,1851 € / heure
8,2 h de VM dans l'année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1195036"/>
                  </a:ext>
                </a:extLst>
              </a:tr>
              <a:tr h="596900">
                <a:tc>
                  <a:txBody>
                    <a:bodyPr/>
                    <a:lstStyle/>
                    <a:p>
                      <a:pPr algn="l"/>
                      <a:r>
                        <a:rPr lang="fr-FR" sz="1700" b="0" dirty="0">
                          <a:solidFill>
                            <a:srgbClr val="172F43"/>
                          </a:solidFill>
                          <a:latin typeface="Arial" panose="020B0604020202020204" pitchFamily="34" charset="0"/>
                        </a:rPr>
                        <a:t>Images : ≈ 99 Go, 12 mois / image
1,98 € / mois au stock complet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23,74 €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12,86 €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93271420"/>
                  </a:ext>
                </a:extLst>
              </a:tr>
              <a:tr h="444500">
                <a:tc>
                  <a:txBody>
                    <a:bodyPr/>
                    <a:lstStyle/>
                    <a:p>
                      <a:pPr algn="l"/>
                      <a:r>
                        <a:rPr lang="fr-FR" sz="1700" b="0" dirty="0">
                          <a:solidFill>
                            <a:srgbClr val="172F43"/>
                          </a:solidFill>
                          <a:latin typeface="Arial" panose="020B0604020202020204" pitchFamily="34" charset="0"/>
                        </a:rPr>
                        <a:t>Disque : 50 Gio à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 49,78 €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38359257"/>
                  </a:ext>
                </a:extLst>
              </a:tr>
              <a:tr h="444500">
                <a:tc>
                  <a:txBody>
                    <a:bodyPr/>
                    <a:lstStyle/>
                    <a:p>
                      <a:pPr algn="l"/>
                      <a:r>
                        <a:rPr lang="fr-FR" sz="1700" b="0" dirty="0">
                          <a:solidFill>
                            <a:srgbClr val="172F43"/>
                          </a:solidFill>
                          <a:latin typeface="Arial" panose="020B0604020202020204" pitchFamily="34" charset="0"/>
                        </a:rPr>
                        <a:t>Accès :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1,70 € / lot)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785586077"/>
                  </a:ext>
                </a:extLst>
              </a:tr>
              <a:tr h="4445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30669867"/>
                  </a:ext>
                </a:extLst>
              </a:tr>
            </a:tbl>
          </a:graphicData>
        </a:graphic>
      </p:graphicFrame>
      <p:sp>
        <p:nvSpPr>
          <p:cNvPr id="7" name="ZoneTexte 6">
            <a:extLst>
              <a:ext uri="{FF2B5EF4-FFF2-40B4-BE49-F238E27FC236}">
                <a16:creationId xmlns:a16="http://schemas.microsoft.com/office/drawing/2014/main" id="{512FF550-847B-71B3-C561-B8374BA9A8F9}"/>
              </a:ext>
            </a:extLst>
          </p:cNvPr>
          <p:cNvSpPr txBox="1"/>
          <p:nvPr/>
        </p:nvSpPr>
        <p:spPr>
          <a:xfrm>
            <a:off x="609600" y="5740399"/>
            <a:ext cx="10972800" cy="5461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Stockage des images : 0,16 à 1,98 € / mois en année 1. Ensuite : total cloud de 95,49 € / an.
VM arrêtée entre les lots ; disque supprimé après le lot unique.</a:t>
            </a:r>
            <a:endParaRPr lang="fr-FR" sz="1700" dirty="0">
              <a:solidFill>
                <a:srgbClr val="172F43"/>
              </a:solidFill>
              <a:latin typeface="Arial" panose="020B0604020202020204" pitchFamily="34" charset="0"/>
            </a:endParaRPr>
          </a:p>
        </p:txBody>
      </p:sp>
      <p:sp>
        <p:nvSpPr>
          <p:cNvPr id="8" name="ZoneTexte 7">
            <a:extLst>
              <a:ext uri="{FF2B5EF4-FFF2-40B4-BE49-F238E27FC236}">
                <a16:creationId xmlns:a16="http://schemas.microsoft.com/office/drawing/2014/main" id="{AD83A54A-A380-D9A1-F201-B0B1C725A36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DB70433-21BE-19FC-6D65-48402753D0D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3" name="ZoneTexte 2">
            <a:extLst>
              <a:ext uri="{FF2B5EF4-FFF2-40B4-BE49-F238E27FC236}">
                <a16:creationId xmlns:a16="http://schemas.microsoft.com/office/drawing/2014/main" id="{7D685559-87D0-2E95-5996-AF52C15A039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4" name="Connecteur droit 3">
            <a:extLst>
              <a:ext uri="{FF2B5EF4-FFF2-40B4-BE49-F238E27FC236}">
                <a16:creationId xmlns:a16="http://schemas.microsoft.com/office/drawing/2014/main" id="{6AFEEACE-B718-8A22-21F8-9131C0DAB8D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3845D237-FF1D-98BD-7FBA-35E81B41541F}"/>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6" name="Tableau 5">
            <a:extLst>
              <a:ext uri="{FF2B5EF4-FFF2-40B4-BE49-F238E27FC236}">
                <a16:creationId xmlns:a16="http://schemas.microsoft.com/office/drawing/2014/main" id="{92DBE353-F800-D13B-3486-52409180C4C0}"/>
              </a:ext>
            </a:extLst>
          </p:cNvPr>
          <p:cNvGraphicFramePr>
            <a:graphicFrameLocks noGrp="1"/>
          </p:cNvGraphicFramePr>
          <p:nvPr>
            <p:extLst>
              <p:ext uri="{D42A27DB-BD31-4B8C-83A1-F6EECF244321}">
                <p14:modId xmlns:p14="http://schemas.microsoft.com/office/powerpoint/2010/main" val="2197920771"/>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022869"/>
                    </a:ext>
                  </a:extLst>
                </a:gridCol>
                <a:gridCol w="3835400">
                  <a:extLst>
                    <a:ext uri="{9D8B030D-6E8A-4147-A177-3AD203B41FA5}">
                      <a16:colId xmlns:a16="http://schemas.microsoft.com/office/drawing/2014/main" val="654276186"/>
                    </a:ext>
                  </a:extLst>
                </a:gridCol>
                <a:gridCol w="5181600">
                  <a:extLst>
                    <a:ext uri="{9D8B030D-6E8A-4147-A177-3AD203B41FA5}">
                      <a16:colId xmlns:a16="http://schemas.microsoft.com/office/drawing/2014/main" val="1848682824"/>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89385982"/>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Pic local du processus Python : 3,24 Gio, modèles déjà chargés.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Chargement par lots obligatoire : 4 M tenseurs occupent ≈ 2,2 Tio. VM prévue :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36333654"/>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4 M petits fichiers peuvent ralentir la lecture et le décodage.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Mesurer le débit AWS, précharger les lots. GPU à tester si le CNN limite la vitesse.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481920787"/>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Chiffrage pour des JPEG de 24,75 ko / image, soit ≈ 99 Go.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700" b="0" dirty="0">
                          <a:solidFill>
                            <a:srgbClr val="172F43"/>
                          </a:solidFill>
                          <a:latin typeface="Arial" panose="020B0604020202020204" pitchFamily="34" charset="0"/>
                        </a:rPr>
                        <a:t>Mesurer les fichiers reçus : des PNG plus lourds augmenteraient le volume et la durée.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53109267"/>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Seulement 20 images connues sont réservées au test.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700" b="0" dirty="0">
                          <a:solidFill>
                            <a:srgbClr val="172F43"/>
                          </a:solidFill>
                          <a:latin typeface="Arial" panose="020B0604020202020204" pitchFamily="34" charset="0"/>
                        </a:rPr>
                        <a:t>Vérifier la qualité sur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29332114"/>
                  </a:ext>
                </a:extLst>
              </a:tr>
            </a:tbl>
          </a:graphicData>
        </a:graphic>
      </p:graphicFrame>
      <p:sp>
        <p:nvSpPr>
          <p:cNvPr id="7" name="ZoneTexte 6">
            <a:extLst>
              <a:ext uri="{FF2B5EF4-FFF2-40B4-BE49-F238E27FC236}">
                <a16:creationId xmlns:a16="http://schemas.microsoft.com/office/drawing/2014/main" id="{76FE1D48-151F-584C-7454-1B5C84FEC8F5}"/>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4763</Words>
  <Application>Microsoft Office PowerPoint</Application>
  <PresentationFormat>Grand écran</PresentationFormat>
  <Paragraphs>357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14</cp:revision>
  <dcterms:created xsi:type="dcterms:W3CDTF">2026-10-09T08:40:36Z</dcterms:created>
  <dcterms:modified xsi:type="dcterms:W3CDTF">2026-10-09T13:04:30Z</dcterms:modified>
</cp:coreProperties>
</file>