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Le PC i9 constitue la base réelle de comparaison. Les 24 cœurs AWS sont tous des cœurs Xeon, tandis que le i9 combine 8 cœurs Performance et 16 Efficient. Le nombre de vCPU AWS est un nombre de threads et ne doit pas être confondu avec les cœurs physiques. Une c7i.8xlarge aurait 32 vCPU mais seulement 16 cœurs physiques. Le choix c7i.12xlarge conserve 24 cœurs physiques pour établir le devis, sans prétendre que ce critère suffit à prouver une puissance identique. La fréquence du i9 (jusqu'à 6 GHz sur les conditions Intel de turbo) et le turbo tous cœurs du Xeon (3.2 GHz) ne sont pas directement comparables, et aucun rapport de vitesse n'en est déduit.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
Mémoire : les 3,2 Gio représentent le maximum observé pour le processus Python, pas toute la mémoire de la machine et de son système d'exploitation. Les 96 Gio sont inclus dans le prix EC2 et liés à la configuration CPU. Le traitement progressif par lots doit conserver une consommation bornée. Le pic réel sur AWS doit être mesuré. Affichage du tarif arrondi à 2,28 EUR/h. Tous les calculs conservent le tarif exact 2,279814053280887 EUR/h.</a:t>
            </a:r>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DÉTAIL DU CALCUL DEMANDÉ
Machine c7i.12xlarge Linux On-Demand à Paris, 96 Gio de RAM incluse, adresse IPv4 publique comprise. Tarif EC2 : 2,5452 USD/h. IPv4 : 0,005 USD/h. Conversion datée du 08/10/2026 : 1 EUR = 1,1186 USD. Tarif exact (2,5452 + 0,005) / 1,1186 = 2,279814053280887 EUR/h, affiché à 2,2798 EUR/h pour expliquer les multiplications. 30 h × tarif exact = 68,3944215984266 EUR, soit 68,39 EUR. Disque EBS gp3 de 50 Gio, 0,0928 USD/Gio-mois : 1 mois × 50 × 0,0928 / 1,1186 = 4,148042195601645 EUR, soit 4,15 EUR. Stockage des 1506 fichiers du dataset (37272490 octets, un mois), une PUT et une GET par fichier : 0,0084457581551753 EUR, soit 0,01 EUR. Somme des montants affichés : 68,39 + 4,15 + 0,01 = 72,55 EUR. Le tarif arrondi à 2,28 EUR/h de la slide 10 est destiné à la lecture, les calculs utilisent le tarif exact. Aucun coût humain inclus.
SOURCE AWS UNIQUE POUR LES TARIFS
https://docs.aws.amazon.com/awsaccountbilling/latest/aboutv2/using-the-aws-price-list-bulk-api-fetching-price-list-files-manually.html
AWS Price List donne accès aux catalogues par service, version et région. Choisir eu-west-3 (Paris), les tarifs en vigueur le 09/10/2026, Linux, On-Demand, Shared. EC2 : c7i.12xlarge, SKU RKFRM5JW99YQMR8K, prix effectif au 01/10/2026. EBS gp3 figure dans AmazonEC2, IPv4 dans AmazonVPC, stockage et requêtes dans AmazonS3. Les totaux en euros sont nos calculs à partir des tarifs unitaires AWS, et ne sont pas des montants publiés tels quels par AWS.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DÉTAIL DES DEUX TOTAUX DEMANDÉS
Ces montants sont conservés pour expliquer les estimations de 67,03 et 101,78 EUR. Ils reposent sur l'ancienne mesure locale extrapolée à 8,2 h, soit 41 minutes par lot mensuel. La dernière mesure du notebook, également reportée sur la slide 10, est d'environ 9 h : 45 minutes par lot, sous la même hypothèse de débit. Les deux totaux doivent être recalculés si l'on adopte cette nouvelle durée. Le débit réel sur AWS reste à mesurer. 96 Gio de RAM inclus dans le prix EC2. VM arrêtée entre lots et adresse IPv4 libérée.
Tarif exact machine + IP : (2,5452 + 0,005) / 1,1186 = 2,279814053280887 EUR/h. Prix EBS : 50 Gio × 0,0928 USD/Gio-mois / 1,1186 = 4,148042195601645 EUR/mois. Taille moyenne du JPEG observée : 37272490 / 1506 = 24749,329349 octets. 4 M fichiers représentent 92,1984365 Gio (environ 99 Go). S3 Standard : 0,024 USD/Gio-mois, soit 1,978153474377387 EUR/mois au stock complet. Prix PUT : 0,0053 USD/1000 requêtes. GET : 0,00042 USD/1000 requêtes. Un envoi et une lecture par image = 4000000 / 1000 × (0,0053 + 0,00042) / 1,1186 = 20,45413910244949 EUR, soit 20,45 EUR.
EN UNE FOIS
Machine : 8,2 h × 2,279814053280887 = 18,6944752369 EUR, soit 18,69 EUR. Images conservées 12 mois : 12 × 1,978153474377387 = 23,7378416925 EUR, soit 23,74 EUR. Disque conservé un mois : 4,15 EUR. Accès : 20,45 EUR. Total affiché : 18,69 + 23,74 + 4,15 + 20,45 = 67,03 EUR HT.
GLISSANT, PREMIÈRE ANNÉE
Même temps total de calcul de 8,2 h réparti en 12 lots mensuels. Machine : 18,69 EUR. Le stock démarre vide. Les lots arrivent au début de chaque mois et chaque image reste 12 mois. Le stock représente successivement 1/12, 2/12, ... 12/12 du volume complet. Somme : (1 + 2 + ... + 12) / 12 = 6,5 mois de stock complet. Stockage : 6,5 × 1,978153474377387 = 12,85799758345 EUR, soit 12,86 EUR. Disque conservé 12 mois : 12 × 4,148042195601645 = 49,7765063472 EUR, soit 49,78 EUR. Accès : 20,45 EUR. Total affiché : 18,69 + 12,86 + 49,78 + 20,45 = 101,78 EUR HT. Les images stockées et les coûts mensuels augmentent pendant cette première année. Les coûts suivants, après stabilisation du stock, sont décrits dans les notes originales.
Images conservées 12 mois chacune. Une seule copie, EC2/S3 dans la même région, aucun transfert intégral vers Internet, aucun NAT Gateway. Hors prototype, annotation/contrôle humain, réentraînements et taxes. Les arrondis sont effectués à la fin des calculs de chaque poste.
SOURCE AWS UNIQUE POUR LES TARIFS
https://docs.aws.amazon.com/awsaccountbilling/latest/aboutv2/using-the-aws-price-list-bulk-api-fetching-price-list-files-manually.html
AWS Price List : catalogues AmazonEC2 (machine et EBS), AmazonVPC (IPv4) et AmazonS3 (stockage et requêtes), région eu-west-3, tarifs consultés le 09/10/2026. La page explique comment retrouver un catalogue par service, région et version historique. Les totaux en euros proviennent des multiplications de nos quantités par ces tarifs AWS et du taux de conversion conservé dans le support.</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err="1">
                <a:solidFill>
                  <a:srgbClr val="172F43"/>
                </a:solidFill>
                <a:latin typeface="Arial" panose="020B0604020202020204" pitchFamily="34" charset="0"/>
              </a:rPr>
              <a:t>Productiond</a:t>
            </a:r>
            <a:r>
              <a:rPr lang="fr-FR" sz="2200" b="1" dirty="0">
                <a:solidFill>
                  <a:srgbClr val="172F43"/>
                </a:solidFill>
                <a:latin typeface="Arial" panose="020B0604020202020204" pitchFamily="34" charset="0"/>
              </a:rPr>
              <a:t>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standardise et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Puis </a:t>
            </a:r>
            <a:r>
              <a:rPr lang="fr-FR" sz="1900" dirty="0" err="1">
                <a:solidFill>
                  <a:srgbClr val="172F43"/>
                </a:solidFill>
                <a:latin typeface="Arial" panose="020B0604020202020204" pitchFamily="34" charset="0"/>
              </a:rPr>
              <a:t>pca.transform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650116825"/>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3998956527"/>
              </p:ext>
            </p:extLst>
          </p:nvPr>
        </p:nvGraphicFramePr>
        <p:xfrm>
          <a:off x="1893115" y="2517621"/>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endParaRPr lang="fr-FR" sz="14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ses couches sont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Le supervisé obtient le meilleur F2 cancer dans cette expérience.</a:t>
            </a:r>
          </a:p>
          <a:p>
            <a:r>
              <a:rPr lang="fr-FR" b="1" dirty="0">
                <a:solidFill>
                  <a:srgbClr val="172F43"/>
                </a:solidFill>
                <a:latin typeface="Arial" panose="020B0604020202020204" pitchFamily="34" charset="0"/>
              </a:rPr>
              <a:t>An noter un écart train/test suggérant un léger surapprentissage pour le semi-supervisé</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96A1EBF-289B-14B5-DB43-91262985B1F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Machine AWS et besoins en RAM</a:t>
            </a:r>
          </a:p>
        </p:txBody>
      </p:sp>
      <p:cxnSp>
        <p:nvCxnSpPr>
          <p:cNvPr id="3" name="Connecteur droit 2">
            <a:extLst>
              <a:ext uri="{FF2B5EF4-FFF2-40B4-BE49-F238E27FC236}">
                <a16:creationId xmlns:a16="http://schemas.microsoft.com/office/drawing/2014/main" id="{7CE422BE-48E9-7150-788A-99AA0EA6984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3FCC2F9-A7E0-1497-9945-0A489F9CBC1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2DA749F9-B8A0-96D1-495B-343EAAF3B1C1}"/>
              </a:ext>
            </a:extLst>
          </p:cNvPr>
          <p:cNvSpPr txBox="1"/>
          <p:nvPr/>
        </p:nvSpPr>
        <p:spPr>
          <a:xfrm>
            <a:off x="609600" y="1841499"/>
            <a:ext cx="51435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Mon PC de référence</a:t>
            </a:r>
          </a:p>
        </p:txBody>
      </p:sp>
      <p:sp>
        <p:nvSpPr>
          <p:cNvPr id="12" name="ZoneTexte 11">
            <a:extLst>
              <a:ext uri="{FF2B5EF4-FFF2-40B4-BE49-F238E27FC236}">
                <a16:creationId xmlns:a16="http://schemas.microsoft.com/office/drawing/2014/main" id="{6975ADDC-E70B-A527-C21E-63AF3CC95A01}"/>
              </a:ext>
            </a:extLst>
          </p:cNvPr>
          <p:cNvSpPr txBox="1"/>
          <p:nvPr/>
        </p:nvSpPr>
        <p:spPr>
          <a:xfrm>
            <a:off x="609600" y="2476499"/>
            <a:ext cx="5143500" cy="1041400"/>
          </a:xfrm>
          <a:prstGeom prst="rect">
            <a:avLst/>
          </a:prstGeom>
          <a:noFill/>
        </p:spPr>
        <p:txBody>
          <a:bodyPr vert="horz" wrap="square" lIns="0" tIns="0" rIns="0" bIns="0" rtlCol="0">
            <a:noAutofit/>
          </a:bodyPr>
          <a:lstStyle/>
          <a:p>
            <a:r>
              <a:rPr lang="fr-FR" sz="2800" b="1" dirty="0">
                <a:solidFill>
                  <a:srgbClr val="172F43"/>
                </a:solidFill>
                <a:latin typeface="Arial" panose="020B0604020202020204" pitchFamily="34" charset="0"/>
              </a:rPr>
              <a:t>i9-14900K
24 cœurs physiques</a:t>
            </a:r>
          </a:p>
        </p:txBody>
      </p:sp>
      <p:sp>
        <p:nvSpPr>
          <p:cNvPr id="15" name="ZoneTexte 14">
            <a:extLst>
              <a:ext uri="{FF2B5EF4-FFF2-40B4-BE49-F238E27FC236}">
                <a16:creationId xmlns:a16="http://schemas.microsoft.com/office/drawing/2014/main" id="{FDCA40DB-E908-009F-5D4E-AC1CA8A70D12}"/>
              </a:ext>
            </a:extLst>
          </p:cNvPr>
          <p:cNvSpPr txBox="1"/>
          <p:nvPr/>
        </p:nvSpPr>
        <p:spPr>
          <a:xfrm>
            <a:off x="603250" y="3448049"/>
            <a:ext cx="51435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RAM mesurée : environ 3,2 Gio
pour le processus Python</a:t>
            </a:r>
          </a:p>
        </p:txBody>
      </p:sp>
      <p:sp>
        <p:nvSpPr>
          <p:cNvPr id="16" name="ZoneTexte 15">
            <a:extLst>
              <a:ext uri="{FF2B5EF4-FFF2-40B4-BE49-F238E27FC236}">
                <a16:creationId xmlns:a16="http://schemas.microsoft.com/office/drawing/2014/main" id="{D42087F5-0F6F-08F1-EBDB-AE11D35AA8BA}"/>
              </a:ext>
            </a:extLst>
          </p:cNvPr>
          <p:cNvSpPr txBox="1"/>
          <p:nvPr/>
        </p:nvSpPr>
        <p:spPr>
          <a:xfrm>
            <a:off x="6426200" y="1841499"/>
            <a:ext cx="51562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AWS du devis</a:t>
            </a:r>
          </a:p>
        </p:txBody>
      </p:sp>
      <p:sp>
        <p:nvSpPr>
          <p:cNvPr id="17" name="ZoneTexte 16">
            <a:extLst>
              <a:ext uri="{FF2B5EF4-FFF2-40B4-BE49-F238E27FC236}">
                <a16:creationId xmlns:a16="http://schemas.microsoft.com/office/drawing/2014/main" id="{5CBFA9D7-317D-E283-BEFE-973A76C4D2DD}"/>
              </a:ext>
            </a:extLst>
          </p:cNvPr>
          <p:cNvSpPr txBox="1"/>
          <p:nvPr/>
        </p:nvSpPr>
        <p:spPr>
          <a:xfrm>
            <a:off x="6426200" y="2476499"/>
            <a:ext cx="5156200" cy="1041400"/>
          </a:xfrm>
          <a:prstGeom prst="rect">
            <a:avLst/>
          </a:prstGeom>
          <a:noFill/>
        </p:spPr>
        <p:txBody>
          <a:bodyPr vert="horz" wrap="square" lIns="0" tIns="0" rIns="0" bIns="0" rtlCol="0">
            <a:noAutofit/>
          </a:bodyPr>
          <a:lstStyle/>
          <a:p>
            <a:r>
              <a:rPr lang="fr-FR" sz="2700" b="1" dirty="0">
                <a:solidFill>
                  <a:srgbClr val="172F43"/>
                </a:solidFill>
                <a:latin typeface="Arial" panose="020B0604020202020204" pitchFamily="34" charset="0"/>
              </a:rPr>
              <a:t>c7i.12xlarge, Paris
24 cœurs physiques, 48 </a:t>
            </a:r>
            <a:r>
              <a:rPr lang="fr-FR" sz="2700" b="1" dirty="0" err="1">
                <a:solidFill>
                  <a:srgbClr val="172F43"/>
                </a:solidFill>
                <a:latin typeface="Arial" panose="020B0604020202020204" pitchFamily="34" charset="0"/>
              </a:rPr>
              <a:t>vCPU</a:t>
            </a:r>
            <a:endParaRPr lang="fr-FR" sz="2700" b="1" dirty="0">
              <a:solidFill>
                <a:srgbClr val="172F43"/>
              </a:solidFill>
              <a:latin typeface="Arial" panose="020B0604020202020204" pitchFamily="34" charset="0"/>
            </a:endParaRPr>
          </a:p>
        </p:txBody>
      </p:sp>
      <p:sp>
        <p:nvSpPr>
          <p:cNvPr id="18" name="ZoneTexte 17">
            <a:extLst>
              <a:ext uri="{FF2B5EF4-FFF2-40B4-BE49-F238E27FC236}">
                <a16:creationId xmlns:a16="http://schemas.microsoft.com/office/drawing/2014/main" id="{1DE17A89-A97D-27D0-4D54-72203D2518B2}"/>
              </a:ext>
            </a:extLst>
          </p:cNvPr>
          <p:cNvSpPr txBox="1"/>
          <p:nvPr/>
        </p:nvSpPr>
        <p:spPr>
          <a:xfrm>
            <a:off x="6419850" y="3448049"/>
            <a:ext cx="51562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96 Gio de RAM inclus
2,28 € HT / heure, IPv4 comprise</a:t>
            </a:r>
          </a:p>
        </p:txBody>
      </p:sp>
      <p:sp>
        <p:nvSpPr>
          <p:cNvPr id="19" name="ZoneTexte 18">
            <a:extLst>
              <a:ext uri="{FF2B5EF4-FFF2-40B4-BE49-F238E27FC236}">
                <a16:creationId xmlns:a16="http://schemas.microsoft.com/office/drawing/2014/main" id="{ADE45DAE-3BEC-2B32-EFE5-816D6C55BB0D}"/>
              </a:ext>
            </a:extLst>
          </p:cNvPr>
          <p:cNvSpPr txBox="1"/>
          <p:nvPr/>
        </p:nvSpPr>
        <p:spPr>
          <a:xfrm>
            <a:off x="609600" y="5568949"/>
            <a:ext cx="10972800" cy="7239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La taille du CPU impose les 96 Gio. Le notebook utilise bien moins de RAM.</a:t>
            </a:r>
          </a:p>
        </p:txBody>
      </p:sp>
      <p:sp>
        <p:nvSpPr>
          <p:cNvPr id="20" name="ZoneTexte 19">
            <a:extLst>
              <a:ext uri="{FF2B5EF4-FFF2-40B4-BE49-F238E27FC236}">
                <a16:creationId xmlns:a16="http://schemas.microsoft.com/office/drawing/2014/main" id="{EF848DD2-0E31-246D-3714-3BDDFEC36710}"/>
              </a:ext>
            </a:extLst>
          </p:cNvPr>
          <p:cNvSpPr txBox="1"/>
          <p:nvPr/>
        </p:nvSpPr>
        <p:spPr>
          <a:xfrm>
            <a:off x="609600" y="60959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Même nombre de cœurs. Débit à comparer avec le même code sur AWS.</a:t>
            </a:r>
          </a:p>
        </p:txBody>
      </p:sp>
      <p:sp>
        <p:nvSpPr>
          <p:cNvPr id="5" name="ZoneTexte 4">
            <a:extLst>
              <a:ext uri="{FF2B5EF4-FFF2-40B4-BE49-F238E27FC236}">
                <a16:creationId xmlns:a16="http://schemas.microsoft.com/office/drawing/2014/main" id="{73F11DF7-2416-708F-60E7-0A06BA32DAAC}"/>
              </a:ext>
            </a:extLst>
          </p:cNvPr>
          <p:cNvSpPr txBox="1"/>
          <p:nvPr/>
        </p:nvSpPr>
        <p:spPr>
          <a:xfrm>
            <a:off x="596900" y="4203117"/>
            <a:ext cx="5143500" cy="787400"/>
          </a:xfrm>
          <a:prstGeom prst="rect">
            <a:avLst/>
          </a:prstGeom>
          <a:noFill/>
        </p:spPr>
        <p:txBody>
          <a:bodyPr vert="horz" wrap="square" lIns="0" tIns="0" rIns="0" bIns="0" rtlCol="0">
            <a:noAutofit/>
          </a:bodyPr>
          <a:lstStyle/>
          <a:p>
            <a:r>
              <a:rPr lang="fr-FR" dirty="0"/>
              <a:t>Estimation réalisée sur la base de ce test:</a:t>
            </a:r>
          </a:p>
          <a:p>
            <a:r>
              <a:rPr lang="fr-FR" dirty="0"/>
              <a:t>Nombre d'images traitées : 1000 </a:t>
            </a:r>
          </a:p>
          <a:p>
            <a:r>
              <a:rPr lang="fr-FR" dirty="0"/>
              <a:t>Durée mesurée : 8.1 secondes </a:t>
            </a:r>
          </a:p>
          <a:p>
            <a:r>
              <a:rPr lang="fr-FR" dirty="0"/>
              <a:t>Estimation pour 4 millions : 9.0 heures</a:t>
            </a:r>
            <a:endParaRPr lang="fr-FR" sz="2200" dirty="0">
              <a:solidFill>
                <a:srgbClr val="172F43"/>
              </a:solidFill>
              <a:latin typeface="Arial" panose="020B0604020202020204" pitchFamily="34" charset="0"/>
            </a:endParaRPr>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94A18E73-2BA2-DFCB-C591-A8E91421C420}"/>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du prototype</a:t>
            </a:r>
          </a:p>
        </p:txBody>
      </p:sp>
      <p:cxnSp>
        <p:nvCxnSpPr>
          <p:cNvPr id="10" name="Connecteur droit 9">
            <a:extLst>
              <a:ext uri="{FF2B5EF4-FFF2-40B4-BE49-F238E27FC236}">
                <a16:creationId xmlns:a16="http://schemas.microsoft.com/office/drawing/2014/main" id="{6C0589B6-FF8D-4B3C-0AC9-B861D5C65B7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FEC23F20-7ECF-FAF5-341B-3FDA8D0C7FB2}"/>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12" name="ZoneTexte 11">
            <a:extLst>
              <a:ext uri="{FF2B5EF4-FFF2-40B4-BE49-F238E27FC236}">
                <a16:creationId xmlns:a16="http://schemas.microsoft.com/office/drawing/2014/main" id="{43B8F8BC-A9C8-6A35-0E33-74B606A866FD}"/>
              </a:ext>
            </a:extLst>
          </p:cNvPr>
          <p:cNvSpPr txBox="1"/>
          <p:nvPr/>
        </p:nvSpPr>
        <p:spPr>
          <a:xfrm>
            <a:off x="609600" y="1841499"/>
            <a:ext cx="10972800" cy="5080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30 heures de VM, essais et entraînements inclus</a:t>
            </a:r>
          </a:p>
        </p:txBody>
      </p:sp>
      <p:sp>
        <p:nvSpPr>
          <p:cNvPr id="13" name="ZoneTexte 12">
            <a:extLst>
              <a:ext uri="{FF2B5EF4-FFF2-40B4-BE49-F238E27FC236}">
                <a16:creationId xmlns:a16="http://schemas.microsoft.com/office/drawing/2014/main" id="{13B6A6DE-146F-C461-6200-D37D1A69CC60}"/>
              </a:ext>
            </a:extLst>
          </p:cNvPr>
          <p:cNvSpPr txBox="1"/>
          <p:nvPr/>
        </p:nvSpPr>
        <p:spPr>
          <a:xfrm>
            <a:off x="609600" y="2730499"/>
            <a:ext cx="4762500" cy="825500"/>
          </a:xfrm>
          <a:prstGeom prst="rect">
            <a:avLst/>
          </a:prstGeom>
          <a:noFill/>
        </p:spPr>
        <p:txBody>
          <a:bodyPr vert="horz" wrap="square" lIns="0" tIns="0" rIns="0" bIns="0" rtlCol="0">
            <a:noAutofit/>
          </a:bodyPr>
          <a:lstStyle/>
          <a:p>
            <a:r>
              <a:rPr lang="fr-FR" sz="4300" b="1" dirty="0">
                <a:solidFill>
                  <a:srgbClr val="007F82"/>
                </a:solidFill>
                <a:latin typeface="Arial" panose="020B0604020202020204" pitchFamily="34" charset="0"/>
              </a:rPr>
              <a:t>72,55 € HT</a:t>
            </a:r>
          </a:p>
        </p:txBody>
      </p:sp>
      <p:sp>
        <p:nvSpPr>
          <p:cNvPr id="14" name="ZoneTexte 13">
            <a:extLst>
              <a:ext uri="{FF2B5EF4-FFF2-40B4-BE49-F238E27FC236}">
                <a16:creationId xmlns:a16="http://schemas.microsoft.com/office/drawing/2014/main" id="{CAC98958-AA35-5985-AFD9-90BA1ADE4CEA}"/>
              </a:ext>
            </a:extLst>
          </p:cNvPr>
          <p:cNvSpPr txBox="1"/>
          <p:nvPr/>
        </p:nvSpPr>
        <p:spPr>
          <a:xfrm>
            <a:off x="609600" y="3809999"/>
            <a:ext cx="4762500" cy="4445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Une seule fois</a:t>
            </a:r>
          </a:p>
        </p:txBody>
      </p:sp>
      <p:sp>
        <p:nvSpPr>
          <p:cNvPr id="15" name="ZoneTexte 14">
            <a:extLst>
              <a:ext uri="{FF2B5EF4-FFF2-40B4-BE49-F238E27FC236}">
                <a16:creationId xmlns:a16="http://schemas.microsoft.com/office/drawing/2014/main" id="{D57A349E-B48F-06C4-DE8E-3060353C2CC4}"/>
              </a:ext>
            </a:extLst>
          </p:cNvPr>
          <p:cNvSpPr txBox="1"/>
          <p:nvPr/>
        </p:nvSpPr>
        <p:spPr>
          <a:xfrm>
            <a:off x="6096000" y="2641599"/>
            <a:ext cx="54864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 IPv4</a:t>
            </a:r>
          </a:p>
        </p:txBody>
      </p:sp>
      <p:sp>
        <p:nvSpPr>
          <p:cNvPr id="20" name="ZoneTexte 19">
            <a:extLst>
              <a:ext uri="{FF2B5EF4-FFF2-40B4-BE49-F238E27FC236}">
                <a16:creationId xmlns:a16="http://schemas.microsoft.com/office/drawing/2014/main" id="{03D05768-75DD-380A-8F1C-DE7BEA34B8D8}"/>
              </a:ext>
            </a:extLst>
          </p:cNvPr>
          <p:cNvSpPr txBox="1"/>
          <p:nvPr/>
        </p:nvSpPr>
        <p:spPr>
          <a:xfrm>
            <a:off x="6096000" y="3200399"/>
            <a:ext cx="5486400" cy="431800"/>
          </a:xfrm>
          <a:prstGeom prst="rect">
            <a:avLst/>
          </a:prstGeom>
          <a:noFill/>
        </p:spPr>
        <p:txBody>
          <a:bodyPr vert="horz" wrap="square" lIns="0" tIns="0" rIns="0" bIns="0" rtlCol="0">
            <a:noAutofit/>
          </a:bodyPr>
          <a:lstStyle/>
          <a:p>
            <a:r>
              <a:rPr lang="fr-FR" sz="2300">
                <a:solidFill>
                  <a:srgbClr val="172F43"/>
                </a:solidFill>
                <a:latin typeface="Arial" panose="020B0604020202020204" pitchFamily="34" charset="0"/>
              </a:rPr>
              <a:t>30 h × 2,2798 €/h = 68,39 €</a:t>
            </a:r>
            <a:endParaRPr lang="fr-FR" sz="2300" dirty="0">
              <a:solidFill>
                <a:srgbClr val="172F43"/>
              </a:solidFill>
              <a:latin typeface="Arial" panose="020B0604020202020204" pitchFamily="34" charset="0"/>
            </a:endParaRPr>
          </a:p>
        </p:txBody>
      </p:sp>
      <p:sp>
        <p:nvSpPr>
          <p:cNvPr id="21" name="ZoneTexte 20">
            <a:extLst>
              <a:ext uri="{FF2B5EF4-FFF2-40B4-BE49-F238E27FC236}">
                <a16:creationId xmlns:a16="http://schemas.microsoft.com/office/drawing/2014/main" id="{DB3C4569-8935-AF2D-24C0-3701E849B5E4}"/>
              </a:ext>
            </a:extLst>
          </p:cNvPr>
          <p:cNvSpPr txBox="1"/>
          <p:nvPr/>
        </p:nvSpPr>
        <p:spPr>
          <a:xfrm>
            <a:off x="6096000" y="38226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Disque : 1 mois × 4,148 € = 4,15 €</a:t>
            </a:r>
          </a:p>
        </p:txBody>
      </p:sp>
      <p:sp>
        <p:nvSpPr>
          <p:cNvPr id="22" name="ZoneTexte 21">
            <a:extLst>
              <a:ext uri="{FF2B5EF4-FFF2-40B4-BE49-F238E27FC236}">
                <a16:creationId xmlns:a16="http://schemas.microsoft.com/office/drawing/2014/main" id="{9F7D7C49-40DF-638C-0CED-7AA2165C0EB3}"/>
              </a:ext>
            </a:extLst>
          </p:cNvPr>
          <p:cNvSpPr txBox="1"/>
          <p:nvPr/>
        </p:nvSpPr>
        <p:spPr>
          <a:xfrm>
            <a:off x="6096000" y="44195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Images et accès : 0,01 €</a:t>
            </a:r>
          </a:p>
        </p:txBody>
      </p:sp>
      <p:sp>
        <p:nvSpPr>
          <p:cNvPr id="23" name="ZoneTexte 22">
            <a:extLst>
              <a:ext uri="{FF2B5EF4-FFF2-40B4-BE49-F238E27FC236}">
                <a16:creationId xmlns:a16="http://schemas.microsoft.com/office/drawing/2014/main" id="{548BF95A-E52E-E1F5-BEF6-9B1767C885D3}"/>
              </a:ext>
            </a:extLst>
          </p:cNvPr>
          <p:cNvSpPr txBox="1"/>
          <p:nvPr/>
        </p:nvSpPr>
        <p:spPr>
          <a:xfrm>
            <a:off x="609600" y="5168899"/>
            <a:ext cx="10972800" cy="4826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68,39 € + 4,15 € + 0,01 € = 72,55 €</a:t>
            </a:r>
          </a:p>
        </p:txBody>
      </p:sp>
      <p:sp>
        <p:nvSpPr>
          <p:cNvPr id="24" name="ZoneTexte 23">
            <a:extLst>
              <a:ext uri="{FF2B5EF4-FFF2-40B4-BE49-F238E27FC236}">
                <a16:creationId xmlns:a16="http://schemas.microsoft.com/office/drawing/2014/main" id="{6485F875-CA81-80DE-F940-961564AD000B}"/>
              </a:ext>
            </a:extLst>
          </p:cNvPr>
          <p:cNvSpPr txBox="1"/>
          <p:nvPr/>
        </p:nvSpPr>
        <p:spPr>
          <a:xfrm>
            <a:off x="609600" y="5880099"/>
            <a:ext cx="1097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Paris, prix HT du 09/10/2026. Conversion : 1 € = 1,1186 $. Temps humain exclu.</a:t>
            </a:r>
          </a:p>
        </p:txBody>
      </p:sp>
      <p:sp>
        <p:nvSpPr>
          <p:cNvPr id="25" name="ZoneTexte 24">
            <a:hlinkClick r:id="rId3"/>
            <a:extLst>
              <a:ext uri="{FF2B5EF4-FFF2-40B4-BE49-F238E27FC236}">
                <a16:creationId xmlns:a16="http://schemas.microsoft.com/office/drawing/2014/main" id="{1D478994-FD7F-7865-33B0-6C49C4982AD5}"/>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1AC44AFA-1A50-016A-C2C6-557C982BEF2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pour 4 millions d'images</a:t>
            </a:r>
          </a:p>
        </p:txBody>
      </p:sp>
      <p:cxnSp>
        <p:nvCxnSpPr>
          <p:cNvPr id="10" name="Connecteur droit 9">
            <a:extLst>
              <a:ext uri="{FF2B5EF4-FFF2-40B4-BE49-F238E27FC236}">
                <a16:creationId xmlns:a16="http://schemas.microsoft.com/office/drawing/2014/main" id="{F8C0D8D8-76C2-1F00-88DA-A6BE6278778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4DCF29F5-84D5-3EAD-3767-2D419BE4D6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12" name="ZoneTexte 11">
            <a:extLst>
              <a:ext uri="{FF2B5EF4-FFF2-40B4-BE49-F238E27FC236}">
                <a16:creationId xmlns:a16="http://schemas.microsoft.com/office/drawing/2014/main" id="{BEB3C468-4FD6-858B-8D90-7A1F395420F4}"/>
              </a:ext>
            </a:extLst>
          </p:cNvPr>
          <p:cNvSpPr txBox="1"/>
          <p:nvPr/>
        </p:nvSpPr>
        <p:spPr>
          <a:xfrm>
            <a:off x="609600" y="1790699"/>
            <a:ext cx="10972800" cy="406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Base de ces montants : 8,2 h de calcul au total, sur la première année</a:t>
            </a:r>
          </a:p>
        </p:txBody>
      </p:sp>
      <p:sp>
        <p:nvSpPr>
          <p:cNvPr id="13" name="ZoneTexte 12">
            <a:extLst>
              <a:ext uri="{FF2B5EF4-FFF2-40B4-BE49-F238E27FC236}">
                <a16:creationId xmlns:a16="http://schemas.microsoft.com/office/drawing/2014/main" id="{811F893A-AEE1-630D-0E51-844DFDCF38EC}"/>
              </a:ext>
            </a:extLst>
          </p:cNvPr>
          <p:cNvSpPr txBox="1"/>
          <p:nvPr/>
        </p:nvSpPr>
        <p:spPr>
          <a:xfrm>
            <a:off x="609600" y="2374899"/>
            <a:ext cx="52705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En une fois</a:t>
            </a:r>
          </a:p>
        </p:txBody>
      </p:sp>
      <p:sp>
        <p:nvSpPr>
          <p:cNvPr id="14" name="ZoneTexte 13">
            <a:extLst>
              <a:ext uri="{FF2B5EF4-FFF2-40B4-BE49-F238E27FC236}">
                <a16:creationId xmlns:a16="http://schemas.microsoft.com/office/drawing/2014/main" id="{DBB2697E-80C5-9489-4E7E-7FAF14A64F95}"/>
              </a:ext>
            </a:extLst>
          </p:cNvPr>
          <p:cNvSpPr txBox="1"/>
          <p:nvPr/>
        </p:nvSpPr>
        <p:spPr>
          <a:xfrm>
            <a:off x="609600" y="2920999"/>
            <a:ext cx="5270500" cy="673100"/>
          </a:xfrm>
          <a:prstGeom prst="rect">
            <a:avLst/>
          </a:prstGeom>
          <a:noFill/>
        </p:spPr>
        <p:txBody>
          <a:bodyPr vert="horz" wrap="square" lIns="0" tIns="0" rIns="0" bIns="0" rtlCol="0">
            <a:noAutofit/>
          </a:bodyPr>
          <a:lstStyle/>
          <a:p>
            <a:r>
              <a:rPr lang="fr-FR" sz="3500" b="1" dirty="0">
                <a:solidFill>
                  <a:srgbClr val="007F82"/>
                </a:solidFill>
                <a:latin typeface="Arial" panose="020B0604020202020204" pitchFamily="34" charset="0"/>
              </a:rPr>
              <a:t>67,03 € HT</a:t>
            </a:r>
          </a:p>
        </p:txBody>
      </p:sp>
      <p:sp>
        <p:nvSpPr>
          <p:cNvPr id="15" name="ZoneTexte 14">
            <a:extLst>
              <a:ext uri="{FF2B5EF4-FFF2-40B4-BE49-F238E27FC236}">
                <a16:creationId xmlns:a16="http://schemas.microsoft.com/office/drawing/2014/main" id="{3890D782-0A0D-5D45-EBBE-281B16F43802}"/>
              </a:ext>
            </a:extLst>
          </p:cNvPr>
          <p:cNvSpPr txBox="1"/>
          <p:nvPr/>
        </p:nvSpPr>
        <p:spPr>
          <a:xfrm>
            <a:off x="609600" y="3695699"/>
            <a:ext cx="52705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4 millions au mois 1</a:t>
            </a:r>
          </a:p>
        </p:txBody>
      </p:sp>
      <p:sp>
        <p:nvSpPr>
          <p:cNvPr id="22" name="ZoneTexte 21">
            <a:extLst>
              <a:ext uri="{FF2B5EF4-FFF2-40B4-BE49-F238E27FC236}">
                <a16:creationId xmlns:a16="http://schemas.microsoft.com/office/drawing/2014/main" id="{ED072734-4974-6397-0AB1-41177A671D90}"/>
              </a:ext>
            </a:extLst>
          </p:cNvPr>
          <p:cNvSpPr txBox="1"/>
          <p:nvPr/>
        </p:nvSpPr>
        <p:spPr>
          <a:xfrm>
            <a:off x="6413500" y="2374899"/>
            <a:ext cx="51689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Chaque mois, sur un an</a:t>
            </a:r>
          </a:p>
        </p:txBody>
      </p:sp>
      <p:sp>
        <p:nvSpPr>
          <p:cNvPr id="23" name="ZoneTexte 22">
            <a:extLst>
              <a:ext uri="{FF2B5EF4-FFF2-40B4-BE49-F238E27FC236}">
                <a16:creationId xmlns:a16="http://schemas.microsoft.com/office/drawing/2014/main" id="{7526DBB8-FEA0-E434-E340-9E8D00C2852B}"/>
              </a:ext>
            </a:extLst>
          </p:cNvPr>
          <p:cNvSpPr txBox="1"/>
          <p:nvPr/>
        </p:nvSpPr>
        <p:spPr>
          <a:xfrm>
            <a:off x="6413500" y="2920999"/>
            <a:ext cx="5168900" cy="673100"/>
          </a:xfrm>
          <a:prstGeom prst="rect">
            <a:avLst/>
          </a:prstGeom>
          <a:noFill/>
        </p:spPr>
        <p:txBody>
          <a:bodyPr vert="horz" wrap="square" lIns="0" tIns="0" rIns="0" bIns="0" rtlCol="0">
            <a:noAutofit/>
          </a:bodyPr>
          <a:lstStyle/>
          <a:p>
            <a:r>
              <a:rPr lang="fr-FR" sz="3500" b="1" dirty="0">
                <a:solidFill>
                  <a:srgbClr val="007F82"/>
                </a:solidFill>
                <a:latin typeface="Arial" panose="020B0604020202020204" pitchFamily="34" charset="0"/>
              </a:rPr>
              <a:t>101,78 € HT</a:t>
            </a:r>
          </a:p>
        </p:txBody>
      </p:sp>
      <p:sp>
        <p:nvSpPr>
          <p:cNvPr id="24" name="ZoneTexte 23">
            <a:extLst>
              <a:ext uri="{FF2B5EF4-FFF2-40B4-BE49-F238E27FC236}">
                <a16:creationId xmlns:a16="http://schemas.microsoft.com/office/drawing/2014/main" id="{81B20EE6-E99F-1DBC-3797-1DF344C5CCA4}"/>
              </a:ext>
            </a:extLst>
          </p:cNvPr>
          <p:cNvSpPr txBox="1"/>
          <p:nvPr/>
        </p:nvSpPr>
        <p:spPr>
          <a:xfrm>
            <a:off x="6413500" y="3695699"/>
            <a:ext cx="51689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Environ 333 333 images / mois</a:t>
            </a:r>
          </a:p>
        </p:txBody>
      </p:sp>
      <p:sp>
        <p:nvSpPr>
          <p:cNvPr id="25" name="ZoneTexte 24">
            <a:extLst>
              <a:ext uri="{FF2B5EF4-FFF2-40B4-BE49-F238E27FC236}">
                <a16:creationId xmlns:a16="http://schemas.microsoft.com/office/drawing/2014/main" id="{2EA9B0B6-64EC-F06E-2FC0-3442316BFF62}"/>
              </a:ext>
            </a:extLst>
          </p:cNvPr>
          <p:cNvSpPr txBox="1"/>
          <p:nvPr/>
        </p:nvSpPr>
        <p:spPr>
          <a:xfrm>
            <a:off x="609600" y="4241799"/>
            <a:ext cx="5270500" cy="355600"/>
          </a:xfrm>
          <a:prstGeom prst="rect">
            <a:avLst/>
          </a:prstGeom>
          <a:noFill/>
        </p:spPr>
        <p:txBody>
          <a:bodyPr vert="horz" wrap="square" lIns="0" tIns="0" rIns="0" bIns="0" rtlCol="0">
            <a:noAutofit/>
          </a:bodyPr>
          <a:lstStyle/>
          <a:p>
            <a:r>
              <a:rPr lang="fr-FR">
                <a:solidFill>
                  <a:srgbClr val="172F43"/>
                </a:solidFill>
                <a:latin typeface="Arial" panose="020B0604020202020204" pitchFamily="34" charset="0"/>
              </a:rPr>
              <a:t>Calcul : 8,2 h × 2,2798 €/h = 18,69 €</a:t>
            </a:r>
            <a:endParaRPr lang="fr-FR" dirty="0">
              <a:solidFill>
                <a:srgbClr val="172F43"/>
              </a:solidFill>
              <a:latin typeface="Arial" panose="020B0604020202020204" pitchFamily="34" charset="0"/>
            </a:endParaRPr>
          </a:p>
        </p:txBody>
      </p:sp>
      <p:sp>
        <p:nvSpPr>
          <p:cNvPr id="26" name="ZoneTexte 25">
            <a:extLst>
              <a:ext uri="{FF2B5EF4-FFF2-40B4-BE49-F238E27FC236}">
                <a16:creationId xmlns:a16="http://schemas.microsoft.com/office/drawing/2014/main" id="{02C4FB12-7CD8-8CB3-91E4-DFCEC879D5B2}"/>
              </a:ext>
            </a:extLst>
          </p:cNvPr>
          <p:cNvSpPr txBox="1"/>
          <p:nvPr/>
        </p:nvSpPr>
        <p:spPr>
          <a:xfrm>
            <a:off x="609600" y="46481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Images : 12 mois × 1,97815 € = 23,74 €</a:t>
            </a:r>
          </a:p>
        </p:txBody>
      </p:sp>
      <p:sp>
        <p:nvSpPr>
          <p:cNvPr id="27" name="ZoneTexte 26">
            <a:extLst>
              <a:ext uri="{FF2B5EF4-FFF2-40B4-BE49-F238E27FC236}">
                <a16:creationId xmlns:a16="http://schemas.microsoft.com/office/drawing/2014/main" id="{8869FAB3-5DEC-72A1-CCCF-26E5FF430F26}"/>
              </a:ext>
            </a:extLst>
          </p:cNvPr>
          <p:cNvSpPr txBox="1"/>
          <p:nvPr/>
        </p:nvSpPr>
        <p:spPr>
          <a:xfrm>
            <a:off x="609600" y="50545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 mois × 4,148 € = 4,15 €</a:t>
            </a:r>
          </a:p>
        </p:txBody>
      </p:sp>
      <p:sp>
        <p:nvSpPr>
          <p:cNvPr id="28" name="ZoneTexte 27">
            <a:extLst>
              <a:ext uri="{FF2B5EF4-FFF2-40B4-BE49-F238E27FC236}">
                <a16:creationId xmlns:a16="http://schemas.microsoft.com/office/drawing/2014/main" id="{98A40DFC-A682-8522-95D2-F72D1D16E3A7}"/>
              </a:ext>
            </a:extLst>
          </p:cNvPr>
          <p:cNvSpPr txBox="1"/>
          <p:nvPr/>
        </p:nvSpPr>
        <p:spPr>
          <a:xfrm>
            <a:off x="609600" y="54609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Accès : 20,45 €</a:t>
            </a:r>
          </a:p>
        </p:txBody>
      </p:sp>
      <p:sp>
        <p:nvSpPr>
          <p:cNvPr id="29" name="ZoneTexte 28">
            <a:extLst>
              <a:ext uri="{FF2B5EF4-FFF2-40B4-BE49-F238E27FC236}">
                <a16:creationId xmlns:a16="http://schemas.microsoft.com/office/drawing/2014/main" id="{1375E4CF-4636-70C5-4B90-95DCB5A59BA1}"/>
              </a:ext>
            </a:extLst>
          </p:cNvPr>
          <p:cNvSpPr txBox="1"/>
          <p:nvPr/>
        </p:nvSpPr>
        <p:spPr>
          <a:xfrm>
            <a:off x="6413500" y="4241799"/>
            <a:ext cx="5168900" cy="355600"/>
          </a:xfrm>
          <a:prstGeom prst="rect">
            <a:avLst/>
          </a:prstGeom>
          <a:noFill/>
        </p:spPr>
        <p:txBody>
          <a:bodyPr vert="horz" wrap="square" lIns="0" tIns="0" rIns="0" bIns="0" rtlCol="0">
            <a:noAutofit/>
          </a:bodyPr>
          <a:lstStyle/>
          <a:p>
            <a:r>
              <a:rPr lang="fr-FR">
                <a:solidFill>
                  <a:srgbClr val="172F43"/>
                </a:solidFill>
                <a:latin typeface="Arial" panose="020B0604020202020204" pitchFamily="34" charset="0"/>
              </a:rPr>
              <a:t>Calcul : 8,2 h × 2,2798 €/h = 18,69 €</a:t>
            </a:r>
            <a:endParaRPr lang="fr-FR" dirty="0">
              <a:solidFill>
                <a:srgbClr val="172F43"/>
              </a:solidFill>
              <a:latin typeface="Arial" panose="020B0604020202020204" pitchFamily="34" charset="0"/>
            </a:endParaRPr>
          </a:p>
        </p:txBody>
      </p:sp>
      <p:sp>
        <p:nvSpPr>
          <p:cNvPr id="30" name="ZoneTexte 29">
            <a:extLst>
              <a:ext uri="{FF2B5EF4-FFF2-40B4-BE49-F238E27FC236}">
                <a16:creationId xmlns:a16="http://schemas.microsoft.com/office/drawing/2014/main" id="{960C4C70-E218-EAC5-B2C4-F660AC17E772}"/>
              </a:ext>
            </a:extLst>
          </p:cNvPr>
          <p:cNvSpPr txBox="1"/>
          <p:nvPr/>
        </p:nvSpPr>
        <p:spPr>
          <a:xfrm>
            <a:off x="6413500" y="46481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Stockage progressif des images : 12,86 €</a:t>
            </a:r>
          </a:p>
        </p:txBody>
      </p:sp>
      <p:sp>
        <p:nvSpPr>
          <p:cNvPr id="31" name="ZoneTexte 30">
            <a:extLst>
              <a:ext uri="{FF2B5EF4-FFF2-40B4-BE49-F238E27FC236}">
                <a16:creationId xmlns:a16="http://schemas.microsoft.com/office/drawing/2014/main" id="{BA862111-9A49-FCC5-958B-4974B12A95AF}"/>
              </a:ext>
            </a:extLst>
          </p:cNvPr>
          <p:cNvSpPr txBox="1"/>
          <p:nvPr/>
        </p:nvSpPr>
        <p:spPr>
          <a:xfrm>
            <a:off x="6413500" y="50545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12 mois × 4,148 € = 49,78 €</a:t>
            </a:r>
          </a:p>
        </p:txBody>
      </p:sp>
      <p:sp>
        <p:nvSpPr>
          <p:cNvPr id="32" name="ZoneTexte 31">
            <a:extLst>
              <a:ext uri="{FF2B5EF4-FFF2-40B4-BE49-F238E27FC236}">
                <a16:creationId xmlns:a16="http://schemas.microsoft.com/office/drawing/2014/main" id="{0FB7AABA-5F5D-6D17-B3AF-ECAE470C64A7}"/>
              </a:ext>
            </a:extLst>
          </p:cNvPr>
          <p:cNvSpPr txBox="1"/>
          <p:nvPr/>
        </p:nvSpPr>
        <p:spPr>
          <a:xfrm>
            <a:off x="6413500" y="54609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Accès : 20,45 €</a:t>
            </a:r>
          </a:p>
        </p:txBody>
      </p:sp>
      <p:sp>
        <p:nvSpPr>
          <p:cNvPr id="33" name="ZoneTexte 32">
            <a:extLst>
              <a:ext uri="{FF2B5EF4-FFF2-40B4-BE49-F238E27FC236}">
                <a16:creationId xmlns:a16="http://schemas.microsoft.com/office/drawing/2014/main" id="{365900D5-733A-6FEE-2C32-DE905395974C}"/>
              </a:ext>
            </a:extLst>
          </p:cNvPr>
          <p:cNvSpPr txBox="1"/>
          <p:nvPr/>
        </p:nvSpPr>
        <p:spPr>
          <a:xfrm>
            <a:off x="609600" y="5981699"/>
            <a:ext cx="10972800" cy="330200"/>
          </a:xfrm>
          <a:prstGeom prst="rect">
            <a:avLst/>
          </a:prstGeom>
          <a:noFill/>
        </p:spPr>
        <p:txBody>
          <a:bodyPr vert="horz" wrap="square" lIns="0" tIns="0" rIns="0" bIns="0" rtlCol="0">
            <a:noAutofit/>
          </a:bodyPr>
          <a:lstStyle/>
          <a:p>
            <a:r>
              <a:rPr lang="fr-FR" sz="1700" b="1" dirty="0">
                <a:solidFill>
                  <a:srgbClr val="536473"/>
                </a:solidFill>
                <a:latin typeface="Arial" panose="020B0604020202020204" pitchFamily="34" charset="0"/>
              </a:rPr>
              <a:t>Dernière mesure : 9 h. Ces coûts utilisent la mesure précédente de 8,2 h.</a:t>
            </a:r>
          </a:p>
        </p:txBody>
      </p:sp>
      <p:sp>
        <p:nvSpPr>
          <p:cNvPr id="34" name="ZoneTexte 33">
            <a:hlinkClick r:id="rId3"/>
            <a:extLst>
              <a:ext uri="{FF2B5EF4-FFF2-40B4-BE49-F238E27FC236}">
                <a16:creationId xmlns:a16="http://schemas.microsoft.com/office/drawing/2014/main" id="{4D989066-5441-128B-7E70-01990F6AC680}"/>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2CE5517-D222-E8B1-49C3-FAF5DE2BD13D}"/>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Conditions du passage à l'échelle</a:t>
            </a:r>
          </a:p>
        </p:txBody>
      </p:sp>
      <p:cxnSp>
        <p:nvCxnSpPr>
          <p:cNvPr id="3" name="Connecteur droit 2">
            <a:extLst>
              <a:ext uri="{FF2B5EF4-FFF2-40B4-BE49-F238E27FC236}">
                <a16:creationId xmlns:a16="http://schemas.microsoft.com/office/drawing/2014/main" id="{C36039E3-360F-541A-C064-3C67FBC5274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E4EE89F3-B084-BB8F-AB64-F2870C409CEA}"/>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8651400D-F0F4-2411-64DE-7EBFBDEC040B}"/>
              </a:ext>
            </a:extLst>
          </p:cNvPr>
          <p:cNvSpPr txBox="1"/>
          <p:nvPr/>
        </p:nvSpPr>
        <p:spPr>
          <a:xfrm>
            <a:off x="609600" y="1803399"/>
            <a:ext cx="10972800" cy="749300"/>
          </a:xfrm>
          <a:prstGeom prst="rect">
            <a:avLst/>
          </a:prstGeom>
          <a:noFill/>
        </p:spPr>
        <p:txBody>
          <a:bodyPr vert="horz" wrap="square" lIns="0" tIns="0" rIns="0" bIns="0" rtlCol="0">
            <a:noAutofit/>
          </a:bodyPr>
          <a:lstStyle/>
          <a:p>
            <a:r>
              <a:rPr lang="fr-FR" sz="2600" b="1" dirty="0">
                <a:solidFill>
                  <a:srgbClr val="007F82"/>
                </a:solidFill>
                <a:latin typeface="Arial" panose="020B0604020202020204" pitchFamily="34" charset="0"/>
              </a:rPr>
              <a:t>Budget de 5 000 € : compatible avec le scénario estimé</a:t>
            </a:r>
          </a:p>
        </p:txBody>
      </p:sp>
      <p:sp>
        <p:nvSpPr>
          <p:cNvPr id="6" name="ZoneTexte 5">
            <a:extLst>
              <a:ext uri="{FF2B5EF4-FFF2-40B4-BE49-F238E27FC236}">
                <a16:creationId xmlns:a16="http://schemas.microsoft.com/office/drawing/2014/main" id="{E6B80E41-699E-C5CB-7233-DCFA01C15E54}"/>
              </a:ext>
            </a:extLst>
          </p:cNvPr>
          <p:cNvSpPr txBox="1"/>
          <p:nvPr/>
        </p:nvSpPr>
        <p:spPr>
          <a:xfrm>
            <a:off x="609600" y="2857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Débit : chronométrer le même traitement sur AWS.</a:t>
            </a:r>
          </a:p>
        </p:txBody>
      </p:sp>
      <p:sp>
        <p:nvSpPr>
          <p:cNvPr id="7" name="ZoneTexte 6">
            <a:extLst>
              <a:ext uri="{FF2B5EF4-FFF2-40B4-BE49-F238E27FC236}">
                <a16:creationId xmlns:a16="http://schemas.microsoft.com/office/drawing/2014/main" id="{262DEBC2-AF30-9117-E899-E592E3DFE340}"/>
              </a:ext>
            </a:extLst>
          </p:cNvPr>
          <p:cNvSpPr txBox="1"/>
          <p:nvPr/>
        </p:nvSpPr>
        <p:spPr>
          <a:xfrm>
            <a:off x="609600" y="3619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RAM : lire les images par lots de 16.</a:t>
            </a:r>
          </a:p>
        </p:txBody>
      </p:sp>
      <p:sp>
        <p:nvSpPr>
          <p:cNvPr id="14" name="ZoneTexte 13">
            <a:extLst>
              <a:ext uri="{FF2B5EF4-FFF2-40B4-BE49-F238E27FC236}">
                <a16:creationId xmlns:a16="http://schemas.microsoft.com/office/drawing/2014/main" id="{DEC4F175-9AB8-070D-08D5-F64065005244}"/>
              </a:ext>
            </a:extLst>
          </p:cNvPr>
          <p:cNvSpPr txBox="1"/>
          <p:nvPr/>
        </p:nvSpPr>
        <p:spPr>
          <a:xfrm>
            <a:off x="609600" y="4381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Coûts : arrêter la VM entre les lots.</a:t>
            </a:r>
          </a:p>
        </p:txBody>
      </p:sp>
      <p:sp>
        <p:nvSpPr>
          <p:cNvPr id="15" name="ZoneTexte 14">
            <a:extLst>
              <a:ext uri="{FF2B5EF4-FFF2-40B4-BE49-F238E27FC236}">
                <a16:creationId xmlns:a16="http://schemas.microsoft.com/office/drawing/2014/main" id="{48271108-2156-2521-B768-F5BBDC749E12}"/>
              </a:ext>
            </a:extLst>
          </p:cNvPr>
          <p:cNvSpPr txBox="1"/>
          <p:nvPr/>
        </p:nvSpPr>
        <p:spPr>
          <a:xfrm>
            <a:off x="609600" y="5143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Qualité : contrôler les labels sur de nouvelles images: prévoir une partie du budget pour la labélisation.</a:t>
            </a:r>
          </a:p>
        </p:txBody>
      </p:sp>
      <p:sp>
        <p:nvSpPr>
          <p:cNvPr id="16" name="ZoneTexte 15">
            <a:extLst>
              <a:ext uri="{FF2B5EF4-FFF2-40B4-BE49-F238E27FC236}">
                <a16:creationId xmlns:a16="http://schemas.microsoft.com/office/drawing/2014/main" id="{A7E87615-DC4F-F2BE-00C8-832357E06E63}"/>
              </a:ext>
            </a:extLst>
          </p:cNvPr>
          <p:cNvSpPr txBox="1"/>
          <p:nvPr/>
        </p:nvSpPr>
        <p:spPr>
          <a:xfrm>
            <a:off x="609600" y="60705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Les 20 images de test ne suffisent pas à valider 4 millions de labels.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TotalTime>
  <Words>3390</Words>
  <Application>Microsoft Office PowerPoint</Application>
  <PresentationFormat>Grand écran</PresentationFormat>
  <Paragraphs>288</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24</cp:revision>
  <dcterms:created xsi:type="dcterms:W3CDTF">2026-10-09T08:40:36Z</dcterms:created>
  <dcterms:modified xsi:type="dcterms:W3CDTF">2026-10-09T15:42:03Z</dcterms:modified>
</cp:coreProperties>
</file>