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4526CA-1D75-4889-9B71-4BE143D14AEA}"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0E2D82-32C5-480A-9535-CDD2F4689789}" type="slidenum">
              <a:rPr lang="fr-FR" smtClean="0"/>
              <a:t>‹N°›</a:t>
            </a:fld>
            <a:endParaRPr lang="fr-FR"/>
          </a:p>
        </p:txBody>
      </p:sp>
    </p:spTree>
    <p:extLst>
      <p:ext uri="{BB962C8B-B14F-4D97-AF65-F5344CB8AC3E}">
        <p14:creationId xmlns:p14="http://schemas.microsoft.com/office/powerpoint/2010/main" val="3485494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énoncé BrainScanAI fourni dans la conversation, contexte de AGENTS.md, 01_exploration_dataset.ipynb. La mission vise une exploration pour assister les professionnels de santé. Le dataset est nommé mri_dataset_brain_cancer_oc. Image originale du dossier sans_label, sans annotation diagnostique ajoutée. La partie financière sera développée ultérieurement à la demande de l'utilisateur.</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1</a:t>
            </a:fld>
            <a:endParaRPr lang="fr-FR"/>
          </a:p>
        </p:txBody>
      </p:sp>
    </p:spTree>
    <p:extLst>
      <p:ext uri="{BB962C8B-B14F-4D97-AF65-F5344CB8AC3E}">
        <p14:creationId xmlns:p14="http://schemas.microsoft.com/office/powerpoint/2010/main" val="432467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notebook, étape 1, comptage, caractéristiques de l'échantillon et filtrage des doublons. Après filtrage : 50 cancer, 49 normal, 1311 sans label. Le total 96 comprend 64 copies internes à sans_label, 1 copie interne à normal, et 31 copies supplémentaires détectées par comparaison entre dossiers. Recherche fondée sur les pixels RGB et les dimensions. Contrôle des dimensions et de la lisibilité sur un échantillon de 100 images. Les différences d'orientation et de cadrage observées ne justifient pas une suppression automatique. Fiche d'auto-évaluation, page 2 : nettoyage, cohérence, biais potentiels.</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2</a:t>
            </a:fld>
            <a:endParaRPr lang="fr-FR"/>
          </a:p>
        </p:txBody>
      </p:sp>
    </p:spTree>
    <p:extLst>
      <p:ext uri="{BB962C8B-B14F-4D97-AF65-F5344CB8AC3E}">
        <p14:creationId xmlns:p14="http://schemas.microsoft.com/office/powerpoint/2010/main" val="3160086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étape 2 et Markdown associés. Resize_size=256 puis crop_size=224, conversion RGB et float32. Normalisation : mean=[0.485,0.456,0.406], std=[0.229,0.224,0.225]. ResNet18_Weights.IMAGENET1K_V1. requires_grad=False sur tous les paramètres. fc=Identity et eval(). Matrice 1410×512 et DataFrame 1410×513 avec chemin. CSV : resultats/etape2/features_resnet18.csv, sauvegardé avec index=False et rechargé avec pd.read_csv. Choix : réutiliser la représentation du modèle pré-entraîné, conformément à l'énoncé. Fiche d'auto-évaluation, page 2 : transformations adaptées et embeddings exploitables.</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3</a:t>
            </a:fld>
            <a:endParaRPr lang="fr-FR"/>
          </a:p>
        </p:txBody>
      </p:sp>
    </p:spTree>
    <p:extLst>
      <p:ext uri="{BB962C8B-B14F-4D97-AF65-F5344CB8AC3E}">
        <p14:creationId xmlns:p14="http://schemas.microsoft.com/office/powerpoint/2010/main" val="2403640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notebook, cellules de séparation, standardisation et PCA actuelles. train_test_split réserve 20 % de test fort, puis 20 % de validation parmi les données fortes restantes. random_state=42. Le split sans label réserve 20 % pour le test, sans stratification car les labels sont encore inconnus. StandardScaler.fit_transform et PCA.fit_transform utilisent sans_label_train uniquement. Les données fortes et le test sans label utilisent transform séparément. À l'étape clustering, les labels forts servent à l'ARI. À l'étape CNN, fortes_train sert à l'entraînement, fortes_validation à la sélection des paramètres et fortes_test au test final. Aucun test ne sert à l'entraînement. Fiche page 2 : préparation, encodage et évaluation.</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4</a:t>
            </a:fld>
            <a:endParaRPr lang="fr-FR"/>
          </a:p>
        </p:txBody>
      </p:sp>
    </p:spTree>
    <p:extLst>
      <p:ext uri="{BB962C8B-B14F-4D97-AF65-F5344CB8AC3E}">
        <p14:creationId xmlns:p14="http://schemas.microsoft.com/office/powerpoint/2010/main" val="2334432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cellules actuelles de l'étape 3, recalculées en mémoire depuis le CSV pour ce support. Le notebook reste intact. Les anciennes sorties conservées dans le notebook précèdent la modification de standardisation/PCA. Le graphique est un nuage de points natif éditable, avec toutes les coordonnées du train sans label. K-Means n_clusters=2, random_state=42. DBSCAN teste eps=[0.5,1.0,2.0] et min_samples=[3,5,10]. -1 signifie hors groupe. Les neuf essais restent exploratoires. Aucun essai actuel ne produit deux groupes. La conclusion suit le Markdown : retenir K-Means pour la labellisation faible. Le nombre de groupes demandé ne garantit pas une correspondance aux classes médicales. Fiche page 2 : plusieurs méthodes de clustering. SHA-256 du notebook source : 06c863d09f2ae357beb0dc824d41dcf4b8c0076d4bbabecb78d8111596d6d1ff</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5</a:t>
            </a:fld>
            <a:endParaRPr lang="fr-FR"/>
          </a:p>
        </p:txBody>
      </p:sp>
    </p:spTree>
    <p:extLst>
      <p:ext uri="{BB962C8B-B14F-4D97-AF65-F5344CB8AC3E}">
        <p14:creationId xmlns:p14="http://schemas.microsoft.com/office/powerpoint/2010/main" val="3334444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3, Markdown sur les groupes et labels faibles, cellules de labellisation et ARI. donnees_faibles contient exclusivement les anciennes images sans label. donnees_fortes reste séparé avec label_fort. faibles_train et faibles_test sont concaténés uniquement entre eux. L'ARI compare kmeans.predict(X_validation_pca) aux 16 labels forts réservés. Valeur recalculée : -0.026058631921824105. L'ARI mesure l'accord entre partitions et ne fournit pas une correspondance sémantique 0/1 avec normal/cancer. Les groupes peuvent refléter des différences visuelles. Le code CNN actuel reprend directement les groupes 0/1 avant la phase forte, sans association explicite aux classes médicales. Fiche page 2 : vérifier les sorties et interpréter les méthodes.</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6</a:t>
            </a:fld>
            <a:endParaRPr lang="fr-FR"/>
          </a:p>
        </p:txBody>
      </p:sp>
    </p:spTree>
    <p:extLst>
      <p:ext uri="{BB962C8B-B14F-4D97-AF65-F5344CB8AC3E}">
        <p14:creationId xmlns:p14="http://schemas.microsoft.com/office/powerpoint/2010/main" val="3657189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étape 4. creer_cnn initialise les deux ResNet18 avec les mêmes poids ImageNet et torch.manual_seed(42). Les couches existantes sont gelées. fc=Linear(512,2), 1026 paramètres entraînables. Optimiseur Adam, CrossEntropyLoss, lots de 16. Le mode eval conserve les statistiques du réseau pré-entraîné et fc.train entraîne la tête. Semi-supervisé : 5 époques faibles puis 10 fortes retenues sur validation. Supervisé : 10 époques fortes retenues sur validation. Test fort de 20 images distinctes de l'entraînement. L'évaluation intermédiaire du CNN faible se fait sur 263 images faibles avec les labels K-Means : accuracy=0.973 et F1 groupe 1=0.968. Cela mesure la reproduction des groupes, pas une performance clinique. Fiche page 2 : comparaison avec et sans labellisation partielle.</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7</a:t>
            </a:fld>
            <a:endParaRPr lang="fr-FR"/>
          </a:p>
        </p:txBody>
      </p:sp>
    </p:spTree>
    <p:extLst>
      <p:ext uri="{BB962C8B-B14F-4D97-AF65-F5344CB8AC3E}">
        <p14:creationId xmlns:p14="http://schemas.microsoft.com/office/powerpoint/2010/main" val="36774449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recherches d'hyperparamètres semi-supervisée et supervisée et fonction evaluer_cnn de l'étape 4. Les valeurs viennent des tableaux enregistrés dans le notebook. Quatre combinaisons pour chaque méthode, sur la même validation forte de 16 images. 5 époques faibles fixes pour la méthode semi-supervisée. Chaque essai repart des mêmes poids. Le meilleur F2 détermine le taux et le nombre d'époques fortes, puis le modèle final repart des poids initiaux. Les deux méthodes retiennent taux=0.001 et 10 époques fortes. Métriques positives sur cancer=1 après la phase forte. F2 pondère davantage le rappel et pénalise plus fortement les faux négatifs dans la formule du notebook. Aucune priorité clinique ni seuil de réussite n'a été validé. Fiche page 2 : métriques pertinentes et ajustement des hyperparamètres.</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8</a:t>
            </a:fld>
            <a:endParaRPr lang="fr-FR"/>
          </a:p>
        </p:txBody>
      </p:sp>
    </p:spTree>
    <p:extLst>
      <p:ext uri="{BB962C8B-B14F-4D97-AF65-F5344CB8AC3E}">
        <p14:creationId xmlns:p14="http://schemas.microsoft.com/office/powerpoint/2010/main" val="2907347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 : tableau comparaison_etape4 et matrices de confusion enregistrés dans le notebook. Même test : 10 normal et 10 cancer. Semi [[10,0],[2,8]], supervisé [[10,0],[1,9]]. Accuracy 0.90 et 0.95, F1 cancer 0.889 et 0.947, précision 1 pour les deux, rappel 0.8 et 0.9, F2 0.833 et 0.918. Écart de F1 semi moins supervisé = -0.058 selon l'affichage arrondi du notebook. Ces résultats sont les sorties CNN enregistrées, sans nouvel entraînement lors de la création du support. L'utilisateur indique que la modification de standardisation/PCA ne change pas le résultat final. La conclusion suit son Markdown : le semi-supervisé n'apporte pas d'amélioration dans cette configuration et sur ce test. Fiche pages 2 et 3 : comparaison et cohérence des conclusions.</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9</a:t>
            </a:fld>
            <a:endParaRPr lang="fr-FR"/>
          </a:p>
        </p:txBody>
      </p:sp>
    </p:spTree>
    <p:extLst>
      <p:ext uri="{BB962C8B-B14F-4D97-AF65-F5344CB8AC3E}">
        <p14:creationId xmlns:p14="http://schemas.microsoft.com/office/powerpoint/2010/main" val="3369551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Sources : conclusion de l'étape 4, Markdown sur les groupes K-Means, résultats ARI, énoncé et AGENTS.md. Critères observables couverts : features enregistrées et réutilisées, plusieurs méthodes de clustering, jeux forts/faibles séparés, comparaison CNN sur un test commun, métriques et sélection sur validation. Cela ne constitue pas une définition de réussite clinique. Aucun seuil métier n'est fixé dans les sources. Limites : test fort 20, validation forte 16, labels faibles issus de groupes arbitraires, ARI proche de zéro. Recommandation technique limitée à l'interprétation des résultats présents : vérifier la correspondance des groupes avant de présenter les labels faibles comme normal/cancer. La fiche d'auto-évaluation guide l'organisation, elle ne permet pas de déclarer tous les critères validés. Les quatre diapositives financières demandées pour plus tard ne figurent pas dans cette version.</a:t>
            </a:r>
          </a:p>
        </p:txBody>
      </p:sp>
      <p:sp>
        <p:nvSpPr>
          <p:cNvPr id="4" name="Espace réservé du numéro de diapositive 3"/>
          <p:cNvSpPr>
            <a:spLocks noGrp="1"/>
          </p:cNvSpPr>
          <p:nvPr>
            <p:ph type="sldNum" sz="quarter" idx="5"/>
          </p:nvPr>
        </p:nvSpPr>
        <p:spPr/>
        <p:txBody>
          <a:bodyPr/>
          <a:lstStyle/>
          <a:p>
            <a:fld id="{3D0E2D82-32C5-480A-9535-CDD2F4689789}" type="slidenum">
              <a:rPr lang="fr-FR" smtClean="0"/>
              <a:t>10</a:t>
            </a:fld>
            <a:endParaRPr lang="fr-FR"/>
          </a:p>
        </p:txBody>
      </p:sp>
    </p:spTree>
    <p:extLst>
      <p:ext uri="{BB962C8B-B14F-4D97-AF65-F5344CB8AC3E}">
        <p14:creationId xmlns:p14="http://schemas.microsoft.com/office/powerpoint/2010/main" val="2036654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EE88053-7D1E-DB3C-6530-C6E210682E9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679AEB1B-9901-5700-5377-32622DC2C0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0827916-DCC6-E9AB-3656-9BFC0A2A3172}"/>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8089AC14-E90A-BDBF-96E3-C30EAACDE9B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6F098C5-48F3-BEB7-FB71-DC38D0ACC022}"/>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29307990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B73572-39D7-B96E-1D23-4FF94EED41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391D10F-2140-92B2-8C78-7E42B6A5D2A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5998A98-58C2-E2CF-FFC8-EDF61462748F}"/>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75FA1DF7-F821-2DD4-512B-13401F57DE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9E2DD3C-AEC6-C9CD-EE91-ADB99B27005A}"/>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257441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922CA6C-9797-6F95-ABE0-564D8A4C5E8A}"/>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C82BB64-835F-47B2-CB99-A29E8339D1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4B075303-E18B-851E-6A33-FFE596784839}"/>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0A720969-BD2C-DCD7-FA5F-0F13009AE26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C55E8D9-D62D-AF91-C95F-6DA654E3CDE6}"/>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2251413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541E39-4D88-8A0B-EE90-38C3FAD4AB9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F7BCCB82-043A-86C9-621B-88B90552098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B37676A-BE07-DF1E-A336-9D6385695B1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D3B20AE-7683-62C6-0469-A7299440D517}"/>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CCE8C26D-4DCF-780C-4C67-98FA04FA4BF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D9B05BE-64E9-2B74-53BF-3A2452C06C18}"/>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1937576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7A030B-342F-45FB-A348-A4282830B5AC}"/>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A23DFE6-1EC9-37B5-BB8D-272601B88A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BFCC540-CFE9-FF9F-1D0D-C9B69287916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33C8898-946F-6CAB-2588-8E1C516610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F30CA5E-3FC6-7537-4730-B094F0A8955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4FEF194-FC2A-BFF5-0409-55F1430FDDC4}"/>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00C88000-F613-A5FF-803E-2F0AF1CFC155}"/>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1E29E29-2FF0-86E8-B227-EC06EDCB7CA2}"/>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1308413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BBB13D-535A-BC6C-0D67-378587F23082}"/>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306A46E-38A8-4F1E-0809-F163861750A7}"/>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CE05EA42-1293-1D4C-C4FE-D87B3364EF1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7AFCAAA-4141-436D-0C21-0D688A15AA27}"/>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3549984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6C57BB04-4BD0-ED8F-076E-4BAAD1E2F010}"/>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E0AC0F37-C57F-EC37-2543-3C63A6ED37C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49E9D191-60FF-02BB-4094-DDE4CB897642}"/>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1571893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20DAF5-344B-675C-3428-B79CCAF46BF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99A13AF-B280-04B9-A454-9AC1289693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2CFA017A-76F7-A14D-6666-6B4517B31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F7C9199-58EA-334D-E1A0-1FC9FAC1B205}"/>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D2D60C8A-9DC1-4AEB-72D5-1F300A17170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FE1D520-FF69-2529-4F33-179224B52021}"/>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30421828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6A6277-F7B4-257F-9EB3-A2A8522401E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11DE9CA2-DB7A-B5CF-E5F0-24C2681EB5A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FE9C6455-C479-2623-AF0D-E7E3BD9DBD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7FF6013E-D29E-EC94-5E1F-FA0CC5BE7AD4}"/>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ED800C46-D69B-398D-B244-BABCDD421F6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9E06920-28EF-B63A-7F82-BF841CA974E0}"/>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2241633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D28321-D761-AF5D-1DE9-A4B0622A42F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D2EA304-D52C-1A69-6568-D436EDE44C4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B19315F-ECB5-375A-1BAE-AE3860CBB930}"/>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32CD92E-0AC9-1E3D-8A97-E00D4E986CC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AE89834-69EA-93A0-0EBF-A9ABF0A941AD}"/>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374417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F5FD490-4DC3-E33F-CD6C-BFEA9004E4C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07F7F33-F8E0-BABA-CDB0-99CC4A32326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3F1AD16-F839-E540-EE54-05AADFAE7A4E}"/>
              </a:ext>
            </a:extLst>
          </p:cNvPr>
          <p:cNvSpPr>
            <a:spLocks noGrp="1"/>
          </p:cNvSpPr>
          <p:nvPr>
            <p:ph type="dt" sz="half" idx="10"/>
          </p:nvPr>
        </p:nvSpPr>
        <p:spPr/>
        <p:txBody>
          <a:bodyPr/>
          <a:lstStyle/>
          <a:p>
            <a:fld id="{5A679216-0E76-4AF5-9CA9-16BEA346C241}"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B59BF3C2-FEEC-3744-4C3E-17998F275B4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10AD53-F2B0-6D74-F2C3-D7910738F601}"/>
              </a:ext>
            </a:extLst>
          </p:cNvPr>
          <p:cNvSpPr>
            <a:spLocks noGrp="1"/>
          </p:cNvSpPr>
          <p:nvPr>
            <p:ph type="sldNum" sz="quarter" idx="12"/>
          </p:nvPr>
        </p:nvSpPr>
        <p:spPr/>
        <p:txBody>
          <a:bodyPr/>
          <a:lstStyle/>
          <a:p>
            <a:fld id="{3169DA75-E607-46F8-A58A-1F383E6015AA}" type="slidenum">
              <a:rPr lang="fr-FR" smtClean="0"/>
              <a:t>‹N°›</a:t>
            </a:fld>
            <a:endParaRPr lang="fr-FR"/>
          </a:p>
        </p:txBody>
      </p:sp>
    </p:spTree>
    <p:extLst>
      <p:ext uri="{BB962C8B-B14F-4D97-AF65-F5344CB8AC3E}">
        <p14:creationId xmlns:p14="http://schemas.microsoft.com/office/powerpoint/2010/main" val="2984059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5A1D70B-7A03-8199-FB2C-A314838AC4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CD35F4-8CC8-2921-1D0E-A982C5A09B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4C05FDE-1E7D-999C-3849-8B52906AFF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679216-0E76-4AF5-9CA9-16BEA346C241}"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68EC3A3-FAFC-EE70-A9B1-AB8F1E1E0C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8FB36142-1749-B3E3-A06D-228B167D58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69DA75-E607-46F8-A58A-1F383E6015AA}" type="slidenum">
              <a:rPr lang="fr-FR" smtClean="0"/>
              <a:t>‹N°›</a:t>
            </a:fld>
            <a:endParaRPr lang="fr-FR"/>
          </a:p>
        </p:txBody>
      </p:sp>
    </p:spTree>
    <p:extLst>
      <p:ext uri="{BB962C8B-B14F-4D97-AF65-F5344CB8AC3E}">
        <p14:creationId xmlns:p14="http://schemas.microsoft.com/office/powerpoint/2010/main" val="25213432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678EA08-1C8F-B4AE-32A3-578279A9E50E}"/>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74EF7570-528C-7B24-3D97-743801B2FAFC}"/>
              </a:ext>
            </a:extLst>
          </p:cNvPr>
          <p:cNvSpPr txBox="1"/>
          <p:nvPr/>
        </p:nvSpPr>
        <p:spPr>
          <a:xfrm>
            <a:off x="609600" y="736600"/>
            <a:ext cx="6985000" cy="276999"/>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28EF6EF-14B4-6E4E-28C9-5959014DBE4F}"/>
              </a:ext>
            </a:extLst>
          </p:cNvPr>
          <p:cNvSpPr txBox="1"/>
          <p:nvPr/>
        </p:nvSpPr>
        <p:spPr>
          <a:xfrm>
            <a:off x="609600" y="1905000"/>
            <a:ext cx="7112000" cy="276999"/>
          </a:xfrm>
          <a:prstGeom prst="rect">
            <a:avLst/>
          </a:prstGeom>
          <a:noFill/>
        </p:spPr>
        <p:txBody>
          <a:bodyPr vert="horz" wrap="square" lIns="0" tIns="0" rIns="0" bIns="0" rtlCol="0">
            <a:noAutofit/>
          </a:bodyPr>
          <a:lstStyle/>
          <a:p>
            <a:r>
              <a:rPr lang="fr-FR" sz="2700" dirty="0" err="1">
                <a:solidFill>
                  <a:srgbClr val="172F43"/>
                </a:solidFill>
                <a:latin typeface="Arial" panose="020B0604020202020204" pitchFamily="34" charset="0"/>
              </a:rPr>
              <a:t>Features</a:t>
            </a:r>
            <a:r>
              <a:rPr lang="fr-FR" sz="2700" dirty="0">
                <a:solidFill>
                  <a:srgbClr val="172F43"/>
                </a:solidFill>
                <a:latin typeface="Arial" panose="020B0604020202020204" pitchFamily="34" charset="0"/>
              </a:rPr>
              <a:t>, clustering et
apprentissage semi-supervisé</a:t>
            </a:r>
          </a:p>
        </p:txBody>
      </p:sp>
      <p:sp>
        <p:nvSpPr>
          <p:cNvPr id="5" name="ZoneTexte 4">
            <a:extLst>
              <a:ext uri="{FF2B5EF4-FFF2-40B4-BE49-F238E27FC236}">
                <a16:creationId xmlns:a16="http://schemas.microsoft.com/office/drawing/2014/main" id="{617C293B-1EC0-D6FA-DC60-F530D59382FC}"/>
              </a:ext>
            </a:extLst>
          </p:cNvPr>
          <p:cNvSpPr txBox="1"/>
          <p:nvPr/>
        </p:nvSpPr>
        <p:spPr>
          <a:xfrm>
            <a:off x="609600" y="3454400"/>
            <a:ext cx="6985000" cy="276999"/>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7BDE696C-D644-32C8-5D80-C737C4FB3D30}"/>
              </a:ext>
            </a:extLst>
          </p:cNvPr>
          <p:cNvSpPr txBox="1"/>
          <p:nvPr/>
        </p:nvSpPr>
        <p:spPr>
          <a:xfrm>
            <a:off x="609600" y="4178300"/>
            <a:ext cx="7035800" cy="276999"/>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Objectif : explorer la labellisation automatique des images cérébrales à partir de peu de labels connus.</a:t>
            </a:r>
          </a:p>
        </p:txBody>
      </p:sp>
      <p:pic>
        <p:nvPicPr>
          <p:cNvPr id="8" name="Image 7">
            <a:extLst>
              <a:ext uri="{FF2B5EF4-FFF2-40B4-BE49-F238E27FC236}">
                <a16:creationId xmlns:a16="http://schemas.microsoft.com/office/drawing/2014/main" id="{C0D02340-6307-DEC0-9495-25E9450DAC3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B19E3C6D-0F40-9370-A7AA-3347A0AD78FD}"/>
              </a:ext>
            </a:extLst>
          </p:cNvPr>
          <p:cNvSpPr txBox="1"/>
          <p:nvPr/>
        </p:nvSpPr>
        <p:spPr>
          <a:xfrm>
            <a:off x="8255000" y="4826000"/>
            <a:ext cx="3327400" cy="276999"/>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1907AE66-8E0E-EBCE-AAF1-886CA8FD9549}"/>
              </a:ext>
            </a:extLst>
          </p:cNvPr>
          <p:cNvSpPr txBox="1"/>
          <p:nvPr/>
        </p:nvSpPr>
        <p:spPr>
          <a:xfrm>
            <a:off x="609600" y="6388100"/>
            <a:ext cx="10223500" cy="276999"/>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641118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D174D7F-15F5-E518-EA93-573C918D6AB0}"/>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3A832A97-792D-26A8-B4BB-52A4F762AD1E}"/>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6FEBA402-41F9-20E8-F3B6-47CD9611A928}"/>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AFEC5523-1C54-8541-9E6C-F6A9627FB454}"/>
              </a:ext>
            </a:extLst>
          </p:cNvPr>
          <p:cNvSpPr txBox="1"/>
          <p:nvPr/>
        </p:nvSpPr>
        <p:spPr>
          <a:xfrm>
            <a:off x="609600" y="1752600"/>
            <a:ext cx="7239000" cy="276999"/>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AB51F610-95D7-E9FF-46D3-D3358B78C8F1}"/>
              </a:ext>
            </a:extLst>
          </p:cNvPr>
          <p:cNvGraphicFramePr>
            <a:graphicFrameLocks noGrp="1"/>
          </p:cNvGraphicFramePr>
          <p:nvPr>
            <p:extLst>
              <p:ext uri="{D42A27DB-BD31-4B8C-83A1-F6EECF244321}">
                <p14:modId xmlns:p14="http://schemas.microsoft.com/office/powerpoint/2010/main" val="527242359"/>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3736378307"/>
                    </a:ext>
                  </a:extLst>
                </a:gridCol>
                <a:gridCol w="1587500">
                  <a:extLst>
                    <a:ext uri="{9D8B030D-6E8A-4147-A177-3AD203B41FA5}">
                      <a16:colId xmlns:a16="http://schemas.microsoft.com/office/drawing/2014/main" val="1314923737"/>
                    </a:ext>
                  </a:extLst>
                </a:gridCol>
                <a:gridCol w="2349500">
                  <a:extLst>
                    <a:ext uri="{9D8B030D-6E8A-4147-A177-3AD203B41FA5}">
                      <a16:colId xmlns:a16="http://schemas.microsoft.com/office/drawing/2014/main" val="3252698105"/>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965779127"/>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59396255"/>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686383803"/>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28579267"/>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9968461"/>
                  </a:ext>
                </a:extLst>
              </a:tr>
            </a:tbl>
          </a:graphicData>
        </a:graphic>
      </p:graphicFrame>
      <p:sp>
        <p:nvSpPr>
          <p:cNvPr id="7" name="ZoneTexte 6">
            <a:extLst>
              <a:ext uri="{FF2B5EF4-FFF2-40B4-BE49-F238E27FC236}">
                <a16:creationId xmlns:a16="http://schemas.microsoft.com/office/drawing/2014/main" id="{86A7061C-9C38-DD80-F2AD-DDAA00330822}"/>
              </a:ext>
            </a:extLst>
          </p:cNvPr>
          <p:cNvSpPr txBox="1"/>
          <p:nvPr/>
        </p:nvSpPr>
        <p:spPr>
          <a:xfrm>
            <a:off x="609600" y="4953000"/>
            <a:ext cx="7048500" cy="276999"/>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de la liste de travail. Les images sources restent intactes.</a:t>
            </a:r>
          </a:p>
        </p:txBody>
      </p:sp>
      <p:pic>
        <p:nvPicPr>
          <p:cNvPr id="9" name="Image 8">
            <a:extLst>
              <a:ext uri="{FF2B5EF4-FFF2-40B4-BE49-F238E27FC236}">
                <a16:creationId xmlns:a16="http://schemas.microsoft.com/office/drawing/2014/main" id="{66267BFC-F5A1-8BDD-A23F-63571B264DD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C14E6851-3C3E-3B4F-6744-1F5EA42DB3C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F2DAE04-29E6-C30E-AE6E-15E254844ACF}"/>
              </a:ext>
            </a:extLst>
          </p:cNvPr>
          <p:cNvSpPr txBox="1"/>
          <p:nvPr/>
        </p:nvSpPr>
        <p:spPr>
          <a:xfrm>
            <a:off x="8077200" y="3568700"/>
            <a:ext cx="1625600" cy="276999"/>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641585A6-2AA5-B25E-F989-E59BFEBA3A55}"/>
              </a:ext>
            </a:extLst>
          </p:cNvPr>
          <p:cNvSpPr txBox="1"/>
          <p:nvPr/>
        </p:nvSpPr>
        <p:spPr>
          <a:xfrm>
            <a:off x="9982200" y="3568700"/>
            <a:ext cx="1625600" cy="276999"/>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151D0006-A246-71D0-C555-10DF5F62B725}"/>
              </a:ext>
            </a:extLst>
          </p:cNvPr>
          <p:cNvSpPr txBox="1"/>
          <p:nvPr/>
        </p:nvSpPr>
        <p:spPr>
          <a:xfrm>
            <a:off x="8077200" y="4178300"/>
            <a:ext cx="3530600" cy="276999"/>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p:txBody>
      </p:sp>
      <p:sp>
        <p:nvSpPr>
          <p:cNvPr id="15" name="ZoneTexte 14">
            <a:extLst>
              <a:ext uri="{FF2B5EF4-FFF2-40B4-BE49-F238E27FC236}">
                <a16:creationId xmlns:a16="http://schemas.microsoft.com/office/drawing/2014/main" id="{EEC07193-9713-9A17-3F0D-6CC6D53D9847}"/>
              </a:ext>
            </a:extLst>
          </p:cNvPr>
          <p:cNvSpPr txBox="1"/>
          <p:nvPr/>
        </p:nvSpPr>
        <p:spPr>
          <a:xfrm>
            <a:off x="609600" y="6388100"/>
            <a:ext cx="10223500" cy="276999"/>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1315762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9224C79-9669-709B-57E3-764C70166A7B}"/>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3" name="Connecteur droit 2">
            <a:extLst>
              <a:ext uri="{FF2B5EF4-FFF2-40B4-BE49-F238E27FC236}">
                <a16:creationId xmlns:a16="http://schemas.microsoft.com/office/drawing/2014/main" id="{22CA8CB2-B8D8-0274-66A0-98CB56480E5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25DE84D6-ECE4-9E9A-0498-BA79273B3CE4}"/>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5" name="Rectangle 4">
            <a:extLst>
              <a:ext uri="{FF2B5EF4-FFF2-40B4-BE49-F238E27FC236}">
                <a16:creationId xmlns:a16="http://schemas.microsoft.com/office/drawing/2014/main" id="{5A6CCB3C-BACC-D727-E62A-A8B5C1EB18F9}"/>
              </a:ext>
            </a:extLst>
          </p:cNvPr>
          <p:cNvSpPr/>
          <p:nvPr/>
        </p:nvSpPr>
        <p:spPr>
          <a:xfrm>
            <a:off x="6096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Prétraitement
</a:t>
            </a:r>
            <a:r>
              <a:rPr lang="fr-FR" sz="2300" dirty="0" err="1">
                <a:solidFill>
                  <a:srgbClr val="172F43"/>
                </a:solidFill>
                <a:latin typeface="Arial" panose="020B0604020202020204" pitchFamily="34" charset="0"/>
              </a:rPr>
              <a:t>ImageNet</a:t>
            </a:r>
            <a:endParaRPr lang="fr-FR" sz="2300" dirty="0">
              <a:solidFill>
                <a:srgbClr val="172F43"/>
              </a:solidFill>
              <a:latin typeface="Arial" panose="020B0604020202020204" pitchFamily="34" charset="0"/>
            </a:endParaRPr>
          </a:p>
        </p:txBody>
      </p:sp>
      <p:sp>
        <p:nvSpPr>
          <p:cNvPr id="6" name="Rectangle 5">
            <a:extLst>
              <a:ext uri="{FF2B5EF4-FFF2-40B4-BE49-F238E27FC236}">
                <a16:creationId xmlns:a16="http://schemas.microsoft.com/office/drawing/2014/main" id="{A2E9BD02-121A-A74C-E8B1-103E6F92F146}"/>
              </a:ext>
            </a:extLst>
          </p:cNvPr>
          <p:cNvSpPr/>
          <p:nvPr/>
        </p:nvSpPr>
        <p:spPr>
          <a:xfrm>
            <a:off x="45085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ResNet18
Paramètres gelés</a:t>
            </a:r>
          </a:p>
        </p:txBody>
      </p:sp>
      <p:sp>
        <p:nvSpPr>
          <p:cNvPr id="7" name="Rectangle 6">
            <a:extLst>
              <a:ext uri="{FF2B5EF4-FFF2-40B4-BE49-F238E27FC236}">
                <a16:creationId xmlns:a16="http://schemas.microsoft.com/office/drawing/2014/main" id="{ABF85815-B951-FE12-D009-0B32ED5087F2}"/>
              </a:ext>
            </a:extLst>
          </p:cNvPr>
          <p:cNvSpPr/>
          <p:nvPr/>
        </p:nvSpPr>
        <p:spPr>
          <a:xfrm>
            <a:off x="8407400" y="2006600"/>
            <a:ext cx="3175000" cy="13462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512 </a:t>
            </a:r>
            <a:r>
              <a:rPr lang="fr-FR" sz="2300" dirty="0" err="1">
                <a:solidFill>
                  <a:srgbClr val="172F43"/>
                </a:solidFill>
                <a:latin typeface="Arial" panose="020B0604020202020204" pitchFamily="34" charset="0"/>
              </a:rPr>
              <a:t>features</a:t>
            </a:r>
            <a:r>
              <a:rPr lang="fr-FR" sz="2300" dirty="0">
                <a:solidFill>
                  <a:srgbClr val="172F43"/>
                </a:solidFill>
                <a:latin typeface="Arial" panose="020B0604020202020204" pitchFamily="34" charset="0"/>
              </a:rPr>
              <a:t>
par image</a:t>
            </a:r>
          </a:p>
        </p:txBody>
      </p:sp>
      <p:cxnSp>
        <p:nvCxnSpPr>
          <p:cNvPr id="8" name="Connecteur droit avec flèche 7">
            <a:extLst>
              <a:ext uri="{FF2B5EF4-FFF2-40B4-BE49-F238E27FC236}">
                <a16:creationId xmlns:a16="http://schemas.microsoft.com/office/drawing/2014/main" id="{C84BB5DD-139C-8260-6AF1-508D65531A91}"/>
              </a:ext>
            </a:extLst>
          </p:cNvPr>
          <p:cNvCxnSpPr/>
          <p:nvPr/>
        </p:nvCxnSpPr>
        <p:spPr>
          <a:xfrm>
            <a:off x="38608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F264ECE5-084D-CD15-1468-9701AF430EE4}"/>
              </a:ext>
            </a:extLst>
          </p:cNvPr>
          <p:cNvCxnSpPr/>
          <p:nvPr/>
        </p:nvCxnSpPr>
        <p:spPr>
          <a:xfrm>
            <a:off x="7759700" y="2679700"/>
            <a:ext cx="5588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8BBACD52-8D60-BBF2-D113-9AA83BAA7AF5}"/>
              </a:ext>
            </a:extLst>
          </p:cNvPr>
          <p:cNvSpPr txBox="1"/>
          <p:nvPr/>
        </p:nvSpPr>
        <p:spPr>
          <a:xfrm>
            <a:off x="609600" y="3632200"/>
            <a:ext cx="3429000" cy="276999"/>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Redimensionnement à 256
Recadrage central à 224 × 224
Normalisation prévue par le modèle</a:t>
            </a:r>
          </a:p>
        </p:txBody>
      </p:sp>
      <p:sp>
        <p:nvSpPr>
          <p:cNvPr id="11" name="ZoneTexte 10">
            <a:extLst>
              <a:ext uri="{FF2B5EF4-FFF2-40B4-BE49-F238E27FC236}">
                <a16:creationId xmlns:a16="http://schemas.microsoft.com/office/drawing/2014/main" id="{86385AEB-6966-2953-FCB0-DE927E7F6CCE}"/>
              </a:ext>
            </a:extLst>
          </p:cNvPr>
          <p:cNvSpPr txBox="1"/>
          <p:nvPr/>
        </p:nvSpPr>
        <p:spPr>
          <a:xfrm>
            <a:off x="4508500" y="3632200"/>
            <a:ext cx="3467100" cy="276999"/>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Poids IMAGENET1K_V1
0 paramètre entraînable
La couche finale devient Identity</a:t>
            </a:r>
          </a:p>
        </p:txBody>
      </p:sp>
      <p:sp>
        <p:nvSpPr>
          <p:cNvPr id="12" name="ZoneTexte 11">
            <a:extLst>
              <a:ext uri="{FF2B5EF4-FFF2-40B4-BE49-F238E27FC236}">
                <a16:creationId xmlns:a16="http://schemas.microsoft.com/office/drawing/2014/main" id="{3A492167-7026-D36A-4457-F57779A9E992}"/>
              </a:ext>
            </a:extLst>
          </p:cNvPr>
          <p:cNvSpPr txBox="1"/>
          <p:nvPr/>
        </p:nvSpPr>
        <p:spPr>
          <a:xfrm>
            <a:off x="8407400" y="3632200"/>
            <a:ext cx="3175000" cy="276999"/>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Vecteur numérique descriptif
Extraction par lots de 16
1 410 lignes dans le tableau</a:t>
            </a:r>
          </a:p>
        </p:txBody>
      </p:sp>
      <p:sp>
        <p:nvSpPr>
          <p:cNvPr id="13" name="ZoneTexte 12">
            <a:extLst>
              <a:ext uri="{FF2B5EF4-FFF2-40B4-BE49-F238E27FC236}">
                <a16:creationId xmlns:a16="http://schemas.microsoft.com/office/drawing/2014/main" id="{34020278-4CD8-529F-ED0E-B33287B872BC}"/>
              </a:ext>
            </a:extLst>
          </p:cNvPr>
          <p:cNvSpPr txBox="1"/>
          <p:nvPr/>
        </p:nvSpPr>
        <p:spPr>
          <a:xfrm>
            <a:off x="609600" y="5461000"/>
            <a:ext cx="10972800" cy="276999"/>
          </a:xfrm>
          <a:prstGeom prst="rect">
            <a:avLst/>
          </a:prstGeom>
          <a:noFill/>
        </p:spPr>
        <p:txBody>
          <a:bodyPr vert="horz" wrap="square" lIns="0" tIns="0" rIns="0" bIns="0" rtlCol="0">
            <a:noAutofit/>
          </a:bodyPr>
          <a:lstStyle/>
          <a:p>
            <a:r>
              <a:rPr lang="fr-FR" sz="2100" b="1" dirty="0">
                <a:solidFill>
                  <a:srgbClr val="172F43"/>
                </a:solidFill>
                <a:latin typeface="Arial" panose="020B0604020202020204" pitchFamily="34" charset="0"/>
              </a:rPr>
              <a:t>Le CSV conserve le chemin de l'image et les 512 </a:t>
            </a:r>
            <a:r>
              <a:rPr lang="fr-FR" sz="2100" b="1" dirty="0" err="1">
                <a:solidFill>
                  <a:srgbClr val="172F43"/>
                </a:solidFill>
                <a:latin typeface="Arial" panose="020B0604020202020204" pitchFamily="34" charset="0"/>
              </a:rPr>
              <a:t>features</a:t>
            </a:r>
            <a:r>
              <a:rPr lang="fr-FR" sz="2100" b="1" dirty="0">
                <a:solidFill>
                  <a:srgbClr val="172F43"/>
                </a:solidFill>
                <a:latin typeface="Arial" panose="020B0604020202020204" pitchFamily="34" charset="0"/>
              </a:rPr>
              <a:t>. L'étape 3 recharge ce tableau.</a:t>
            </a:r>
          </a:p>
        </p:txBody>
      </p:sp>
    </p:spTree>
    <p:extLst>
      <p:ext uri="{BB962C8B-B14F-4D97-AF65-F5344CB8AC3E}">
        <p14:creationId xmlns:p14="http://schemas.microsoft.com/office/powerpoint/2010/main" val="764990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8366DD3-AE5E-651A-10CA-E0E5EE367258}"/>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27D9C5C8-860C-E857-DFE1-54A38A8024F5}"/>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1901049C-E4DF-EA95-E790-FE9992D34EAC}"/>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E6D5A896-B9CA-EB20-D64D-AEE6FF0549CF}"/>
              </a:ext>
            </a:extLst>
          </p:cNvPr>
          <p:cNvSpPr txBox="1"/>
          <p:nvPr/>
        </p:nvSpPr>
        <p:spPr>
          <a:xfrm>
            <a:off x="609600" y="1765300"/>
            <a:ext cx="10972800" cy="276999"/>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0DBD5E81-A827-7674-2871-F2E972D02352}"/>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63</a:t>
            </a:r>
          </a:p>
        </p:txBody>
      </p:sp>
      <p:sp>
        <p:nvSpPr>
          <p:cNvPr id="7" name="Rectangle 6">
            <a:extLst>
              <a:ext uri="{FF2B5EF4-FFF2-40B4-BE49-F238E27FC236}">
                <a16:creationId xmlns:a16="http://schemas.microsoft.com/office/drawing/2014/main" id="{AFE644D5-CBEE-E208-8E76-8061B569C3E1}"/>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EBFDE5E-DB85-0B19-68B8-BDB491F52B92}"/>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9" name="ZoneTexte 8">
            <a:extLst>
              <a:ext uri="{FF2B5EF4-FFF2-40B4-BE49-F238E27FC236}">
                <a16:creationId xmlns:a16="http://schemas.microsoft.com/office/drawing/2014/main" id="{7ED1F196-070F-5EB0-747D-0CC5FA696454}"/>
              </a:ext>
            </a:extLst>
          </p:cNvPr>
          <p:cNvSpPr txBox="1"/>
          <p:nvPr/>
        </p:nvSpPr>
        <p:spPr>
          <a:xfrm>
            <a:off x="609600" y="3302000"/>
            <a:ext cx="10972800" cy="276999"/>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Split stratifié selon normal/cancer. Le test contient 10 images de chaque classe.</a:t>
            </a:r>
          </a:p>
        </p:txBody>
      </p:sp>
      <p:sp>
        <p:nvSpPr>
          <p:cNvPr id="10" name="ZoneTexte 9">
            <a:extLst>
              <a:ext uri="{FF2B5EF4-FFF2-40B4-BE49-F238E27FC236}">
                <a16:creationId xmlns:a16="http://schemas.microsoft.com/office/drawing/2014/main" id="{15E9BA15-EA7E-650D-505B-13E5AC99402E}"/>
              </a:ext>
            </a:extLst>
          </p:cNvPr>
          <p:cNvSpPr txBox="1"/>
          <p:nvPr/>
        </p:nvSpPr>
        <p:spPr>
          <a:xfrm>
            <a:off x="609600" y="4064000"/>
            <a:ext cx="10972800" cy="276999"/>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6AD2AA6B-1FC4-BE47-2119-C93982769AEE}"/>
              </a:ext>
            </a:extLst>
          </p:cNvPr>
          <p:cNvSpPr/>
          <p:nvPr/>
        </p:nvSpPr>
        <p:spPr>
          <a:xfrm>
            <a:off x="6096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Entraînement : 1 048</a:t>
            </a:r>
          </a:p>
        </p:txBody>
      </p:sp>
      <p:sp>
        <p:nvSpPr>
          <p:cNvPr id="12" name="Rectangle 11">
            <a:extLst>
              <a:ext uri="{FF2B5EF4-FFF2-40B4-BE49-F238E27FC236}">
                <a16:creationId xmlns:a16="http://schemas.microsoft.com/office/drawing/2014/main" id="{0C330C5E-9AC9-C1CA-FD8A-CC9EB7D0CC80}"/>
              </a:ext>
            </a:extLst>
          </p:cNvPr>
          <p:cNvSpPr/>
          <p:nvPr/>
        </p:nvSpPr>
        <p:spPr>
          <a:xfrm>
            <a:off x="6515100" y="4622800"/>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57882F0C-36E8-48B2-D79E-362112696A1C}"/>
              </a:ext>
            </a:extLst>
          </p:cNvPr>
          <p:cNvSpPr txBox="1"/>
          <p:nvPr/>
        </p:nvSpPr>
        <p:spPr>
          <a:xfrm>
            <a:off x="609600" y="5727700"/>
            <a:ext cx="10972800" cy="276999"/>
          </a:xfrm>
          <a:prstGeom prst="rect">
            <a:avLst/>
          </a:prstGeom>
          <a:noFill/>
        </p:spPr>
        <p:txBody>
          <a:bodyPr vert="horz" wrap="square" lIns="0" tIns="0" rIns="0" bIns="0" rtlCol="0">
            <a:noAutofit/>
          </a:bodyPr>
          <a:lstStyle/>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et PCA apprennent uniquement sur le train sans label. 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250764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62EDD62-776F-44E8-2D24-3CA864135A83}"/>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B7A3F49D-64AF-90BE-E00F-1B2639D683B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859F2846-C626-C340-19CE-95C4A717F0CA}"/>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E103A269-D3ED-8599-7F22-AB0AE01BEAD3}"/>
              </a:ext>
            </a:extLst>
          </p:cNvPr>
          <p:cNvSpPr txBox="1"/>
          <p:nvPr/>
        </p:nvSpPr>
        <p:spPr>
          <a:xfrm>
            <a:off x="609600" y="1727200"/>
            <a:ext cx="5651500" cy="276999"/>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B7453864-00B5-3F67-C7EF-5A70A160CC6D}"/>
              </a:ext>
            </a:extLst>
          </p:cNvPr>
          <p:cNvSpPr txBox="1"/>
          <p:nvPr/>
        </p:nvSpPr>
        <p:spPr>
          <a:xfrm>
            <a:off x="609600" y="2235200"/>
            <a:ext cx="5651500" cy="276999"/>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Chaque point représente une image du train sans label.</a:t>
            </a:r>
          </a:p>
        </p:txBody>
      </p:sp>
      <p:sp>
        <p:nvSpPr>
          <p:cNvPr id="7" name="KMeansChartPlaceholder">
            <a:extLst>
              <a:ext uri="{FF2B5EF4-FFF2-40B4-BE49-F238E27FC236}">
                <a16:creationId xmlns:a16="http://schemas.microsoft.com/office/drawing/2014/main" id="{D9837284-782A-9E95-8DC0-DF65597942F5}"/>
              </a:ext>
            </a:extLst>
          </p:cNvPr>
          <p:cNvSpPr/>
          <p:nvPr/>
        </p:nvSpPr>
        <p:spPr>
          <a:xfrm>
            <a:off x="495300" y="2857500"/>
            <a:ext cx="6007100" cy="3149600"/>
          </a:xfrm>
          <a:prstGeom prst="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6AA06A88-A059-7F93-A264-BB9D02A36903}"/>
              </a:ext>
            </a:extLst>
          </p:cNvPr>
          <p:cNvSpPr txBox="1"/>
          <p:nvPr/>
        </p:nvSpPr>
        <p:spPr>
          <a:xfrm>
            <a:off x="609600" y="5981700"/>
            <a:ext cx="5892800" cy="276999"/>
          </a:xfrm>
          <a:prstGeom prst="rect">
            <a:avLst/>
          </a:prstGeom>
          <a:noFill/>
        </p:spPr>
        <p:txBody>
          <a:bodyPr vert="horz" wrap="square" lIns="0" tIns="0" rIns="0" bIns="0" rtlCol="0">
            <a:noAutofit/>
          </a:bodyPr>
          <a:lstStyle/>
          <a:p>
            <a:r>
              <a:rPr lang="fr-FR" sz="1600" dirty="0">
                <a:solidFill>
                  <a:srgbClr val="536473"/>
                </a:solidFill>
                <a:latin typeface="Arial" panose="020B0604020202020204" pitchFamily="34" charset="0"/>
              </a:rPr>
              <a:t>Groupe 0 : 566 images. Groupe 1 : 482.</a:t>
            </a:r>
          </a:p>
        </p:txBody>
      </p:sp>
      <p:sp>
        <p:nvSpPr>
          <p:cNvPr id="9" name="ZoneTexte 8">
            <a:extLst>
              <a:ext uri="{FF2B5EF4-FFF2-40B4-BE49-F238E27FC236}">
                <a16:creationId xmlns:a16="http://schemas.microsoft.com/office/drawing/2014/main" id="{F02854CE-8065-2832-357E-9FC1FC212850}"/>
              </a:ext>
            </a:extLst>
          </p:cNvPr>
          <p:cNvSpPr txBox="1"/>
          <p:nvPr/>
        </p:nvSpPr>
        <p:spPr>
          <a:xfrm>
            <a:off x="7010400" y="1727200"/>
            <a:ext cx="4572000" cy="276999"/>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graphicFrame>
        <p:nvGraphicFramePr>
          <p:cNvPr id="10" name="Tableau 9">
            <a:extLst>
              <a:ext uri="{FF2B5EF4-FFF2-40B4-BE49-F238E27FC236}">
                <a16:creationId xmlns:a16="http://schemas.microsoft.com/office/drawing/2014/main" id="{2D8F4A99-EB32-8C74-6D89-AD64A38B395F}"/>
              </a:ext>
            </a:extLst>
          </p:cNvPr>
          <p:cNvGraphicFramePr>
            <a:graphicFrameLocks noGrp="1"/>
          </p:cNvGraphicFramePr>
          <p:nvPr>
            <p:extLst>
              <p:ext uri="{D42A27DB-BD31-4B8C-83A1-F6EECF244321}">
                <p14:modId xmlns:p14="http://schemas.microsoft.com/office/powerpoint/2010/main" val="3292778935"/>
              </p:ext>
            </p:extLst>
          </p:nvPr>
        </p:nvGraphicFramePr>
        <p:xfrm>
          <a:off x="7010400" y="2336800"/>
          <a:ext cx="4572000" cy="33655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924437313"/>
                    </a:ext>
                  </a:extLst>
                </a:gridCol>
                <a:gridCol w="1422400">
                  <a:extLst>
                    <a:ext uri="{9D8B030D-6E8A-4147-A177-3AD203B41FA5}">
                      <a16:colId xmlns:a16="http://schemas.microsoft.com/office/drawing/2014/main" val="1012273799"/>
                    </a:ext>
                  </a:extLst>
                </a:gridCol>
                <a:gridCol w="965200">
                  <a:extLst>
                    <a:ext uri="{9D8B030D-6E8A-4147-A177-3AD203B41FA5}">
                      <a16:colId xmlns:a16="http://schemas.microsoft.com/office/drawing/2014/main" val="3072346791"/>
                    </a:ext>
                  </a:extLst>
                </a:gridCol>
                <a:gridCol w="1574800">
                  <a:extLst>
                    <a:ext uri="{9D8B030D-6E8A-4147-A177-3AD203B41FA5}">
                      <a16:colId xmlns:a16="http://schemas.microsoft.com/office/drawing/2014/main" val="3286493782"/>
                    </a:ext>
                  </a:extLst>
                </a:gridCol>
              </a:tblGrid>
              <a:tr h="336550">
                <a:tc>
                  <a:txBody>
                    <a:bodyPr/>
                    <a:lstStyle/>
                    <a:p>
                      <a:pPr algn="l"/>
                      <a:r>
                        <a:rPr lang="fr-FR" sz="1700" b="1" dirty="0" err="1">
                          <a:solidFill>
                            <a:srgbClr val="FFFFFF"/>
                          </a:solidFill>
                          <a:latin typeface="Arial" panose="020B0604020202020204" pitchFamily="34" charset="0"/>
                        </a:rPr>
                        <a:t>eps</a:t>
                      </a:r>
                      <a:endParaRPr lang="fr-FR" sz="17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858339527"/>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283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476919647"/>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36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900442789"/>
                  </a:ext>
                </a:extLst>
              </a:tr>
              <a:tr h="336550">
                <a:tc>
                  <a:txBody>
                    <a:bodyPr/>
                    <a:lstStyle/>
                    <a:p>
                      <a:pPr algn="l"/>
                      <a:r>
                        <a:rPr lang="fr-FR" sz="17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953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642965339"/>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283376552"/>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87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23693812"/>
                  </a:ext>
                </a:extLst>
              </a:tr>
              <a:tr h="336550">
                <a:tc>
                  <a:txBody>
                    <a:bodyPr/>
                    <a:lstStyle/>
                    <a:p>
                      <a:pPr algn="l"/>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268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541279676"/>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949473282"/>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335422258"/>
                  </a:ext>
                </a:extLst>
              </a:tr>
              <a:tr h="336550">
                <a:tc>
                  <a:txBody>
                    <a:bodyPr/>
                    <a:lstStyle/>
                    <a:p>
                      <a:pPr algn="l"/>
                      <a:r>
                        <a:rPr lang="fr-FR" sz="17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16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9083193"/>
                  </a:ext>
                </a:extLst>
              </a:tr>
            </a:tbl>
          </a:graphicData>
        </a:graphic>
      </p:graphicFrame>
      <p:sp>
        <p:nvSpPr>
          <p:cNvPr id="11" name="ZoneTexte 10">
            <a:extLst>
              <a:ext uri="{FF2B5EF4-FFF2-40B4-BE49-F238E27FC236}">
                <a16:creationId xmlns:a16="http://schemas.microsoft.com/office/drawing/2014/main" id="{52FCCFFA-E48B-78B9-3378-F76540A07CA9}"/>
              </a:ext>
            </a:extLst>
          </p:cNvPr>
          <p:cNvSpPr txBox="1"/>
          <p:nvPr/>
        </p:nvSpPr>
        <p:spPr>
          <a:xfrm>
            <a:off x="7010400" y="5842000"/>
            <a:ext cx="4572000" cy="276999"/>
          </a:xfrm>
          <a:prstGeom prst="rect">
            <a:avLst/>
          </a:prstGeom>
          <a:noFill/>
        </p:spPr>
        <p:txBody>
          <a:bodyPr vert="horz" wrap="square" lIns="0" tIns="0" rIns="0" bIns="0" rtlCol="0">
            <a:noAutofit/>
          </a:bodyPr>
          <a:lstStyle/>
          <a:p>
            <a:r>
              <a:rPr lang="fr-FR" sz="1700" dirty="0">
                <a:solidFill>
                  <a:srgbClr val="172F43"/>
                </a:solidFill>
                <a:latin typeface="Arial" panose="020B0604020202020204" pitchFamily="34" charset="0"/>
              </a:rPr>
              <a:t>Aucun essai ne produit deux groupes. K-Means fournit les labels faibles retenus.</a:t>
            </a:r>
          </a:p>
        </p:txBody>
      </p:sp>
    </p:spTree>
    <p:extLst>
      <p:ext uri="{BB962C8B-B14F-4D97-AF65-F5344CB8AC3E}">
        <p14:creationId xmlns:p14="http://schemas.microsoft.com/office/powerpoint/2010/main" val="2502851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8C5DA38-DB36-4B83-5A24-AA00BD152C10}"/>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Labels faibles et contrôle par l'ARI</a:t>
            </a:r>
          </a:p>
        </p:txBody>
      </p:sp>
      <p:cxnSp>
        <p:nvCxnSpPr>
          <p:cNvPr id="3" name="Connecteur droit 2">
            <a:extLst>
              <a:ext uri="{FF2B5EF4-FFF2-40B4-BE49-F238E27FC236}">
                <a16:creationId xmlns:a16="http://schemas.microsoft.com/office/drawing/2014/main" id="{3856B333-B2E9-E8A8-C84E-5C98961EEB1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BB2DE089-79DA-C9A5-5F27-BFCD4F4DBFB6}"/>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5" name="Rectangle 4">
            <a:extLst>
              <a:ext uri="{FF2B5EF4-FFF2-40B4-BE49-F238E27FC236}">
                <a16:creationId xmlns:a16="http://schemas.microsoft.com/office/drawing/2014/main" id="{97F1DF54-40E9-4D90-3C94-2B65D9072E54}"/>
              </a:ext>
            </a:extLst>
          </p:cNvPr>
          <p:cNvSpPr/>
          <p:nvPr/>
        </p:nvSpPr>
        <p:spPr>
          <a:xfrm>
            <a:off x="6096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Images sans label</a:t>
            </a:r>
          </a:p>
        </p:txBody>
      </p:sp>
      <p:sp>
        <p:nvSpPr>
          <p:cNvPr id="6" name="Rectangle 5">
            <a:extLst>
              <a:ext uri="{FF2B5EF4-FFF2-40B4-BE49-F238E27FC236}">
                <a16:creationId xmlns:a16="http://schemas.microsoft.com/office/drawing/2014/main" id="{E8479B2C-3393-ADDE-9C17-C0765B999616}"/>
              </a:ext>
            </a:extLst>
          </p:cNvPr>
          <p:cNvSpPr/>
          <p:nvPr/>
        </p:nvSpPr>
        <p:spPr>
          <a:xfrm>
            <a:off x="4508500" y="1892300"/>
            <a:ext cx="31750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Groupes K-Means 0 / 1</a:t>
            </a:r>
          </a:p>
        </p:txBody>
      </p:sp>
      <p:sp>
        <p:nvSpPr>
          <p:cNvPr id="7" name="Rectangle 6">
            <a:extLst>
              <a:ext uri="{FF2B5EF4-FFF2-40B4-BE49-F238E27FC236}">
                <a16:creationId xmlns:a16="http://schemas.microsoft.com/office/drawing/2014/main" id="{ADC1EDFF-5E4F-F37F-2498-2E1F461C7AC9}"/>
              </a:ext>
            </a:extLst>
          </p:cNvPr>
          <p:cNvSpPr/>
          <p:nvPr/>
        </p:nvSpPr>
        <p:spPr>
          <a:xfrm>
            <a:off x="8597900" y="1892300"/>
            <a:ext cx="2984500" cy="9779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Colonne </a:t>
            </a:r>
            <a:r>
              <a:rPr lang="fr-FR" sz="2000" dirty="0" err="1">
                <a:solidFill>
                  <a:srgbClr val="172F43"/>
                </a:solidFill>
                <a:latin typeface="Arial" panose="020B0604020202020204" pitchFamily="34" charset="0"/>
              </a:rPr>
              <a:t>label_faible</a:t>
            </a:r>
            <a:endParaRPr lang="fr-FR" sz="2000" dirty="0">
              <a:solidFill>
                <a:srgbClr val="172F43"/>
              </a:solidFill>
              <a:latin typeface="Arial" panose="020B0604020202020204" pitchFamily="34" charset="0"/>
            </a:endParaRPr>
          </a:p>
        </p:txBody>
      </p:sp>
      <p:cxnSp>
        <p:nvCxnSpPr>
          <p:cNvPr id="8" name="Connecteur droit avec flèche 7">
            <a:extLst>
              <a:ext uri="{FF2B5EF4-FFF2-40B4-BE49-F238E27FC236}">
                <a16:creationId xmlns:a16="http://schemas.microsoft.com/office/drawing/2014/main" id="{E3030BED-5F78-61C0-6E26-1FB3BAAAD1F0}"/>
              </a:ext>
            </a:extLst>
          </p:cNvPr>
          <p:cNvCxnSpPr/>
          <p:nvPr/>
        </p:nvCxnSpPr>
        <p:spPr>
          <a:xfrm>
            <a:off x="36830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9" name="Connecteur droit avec flèche 8">
            <a:extLst>
              <a:ext uri="{FF2B5EF4-FFF2-40B4-BE49-F238E27FC236}">
                <a16:creationId xmlns:a16="http://schemas.microsoft.com/office/drawing/2014/main" id="{85287D86-7613-ABDE-94E5-C8BBCFB6F8B4}"/>
              </a:ext>
            </a:extLst>
          </p:cNvPr>
          <p:cNvCxnSpPr/>
          <p:nvPr/>
        </p:nvCxnSpPr>
        <p:spPr>
          <a:xfrm>
            <a:off x="7772400" y="2387600"/>
            <a:ext cx="736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9B6701EC-D252-41EA-25F4-9F7A1CC8C793}"/>
              </a:ext>
            </a:extLst>
          </p:cNvPr>
          <p:cNvSpPr txBox="1"/>
          <p:nvPr/>
        </p:nvSpPr>
        <p:spPr>
          <a:xfrm>
            <a:off x="609600" y="3149600"/>
            <a:ext cx="10972800" cy="276999"/>
          </a:xfrm>
          <a:prstGeom prst="rect">
            <a:avLst/>
          </a:prstGeom>
          <a:noFill/>
        </p:spPr>
        <p:txBody>
          <a:bodyPr vert="horz" wrap="square" lIns="0" tIns="0" rIns="0" bIns="0" rtlCol="0">
            <a:noAutofit/>
          </a:bodyPr>
          <a:lstStyle/>
          <a:p>
            <a:r>
              <a:rPr lang="fr-FR" sz="2100" dirty="0">
                <a:solidFill>
                  <a:srgbClr val="172F43"/>
                </a:solidFill>
                <a:latin typeface="Arial" panose="020B0604020202020204" pitchFamily="34" charset="0"/>
              </a:rPr>
              <a:t>Le train reçoit ses groupes. K-Means prédit ceux du test sans réentraînement.</a:t>
            </a:r>
          </a:p>
        </p:txBody>
      </p:sp>
      <p:sp>
        <p:nvSpPr>
          <p:cNvPr id="11" name="ZoneTexte 10">
            <a:extLst>
              <a:ext uri="{FF2B5EF4-FFF2-40B4-BE49-F238E27FC236}">
                <a16:creationId xmlns:a16="http://schemas.microsoft.com/office/drawing/2014/main" id="{C66E9AEC-CC0F-78E2-631E-8A2483BDFE24}"/>
              </a:ext>
            </a:extLst>
          </p:cNvPr>
          <p:cNvSpPr txBox="1"/>
          <p:nvPr/>
        </p:nvSpPr>
        <p:spPr>
          <a:xfrm>
            <a:off x="609600" y="3898900"/>
            <a:ext cx="6705600" cy="276999"/>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Les numéros 0 et 1 n'identifient pas automatiquement normal et cancer.</a:t>
            </a:r>
          </a:p>
        </p:txBody>
      </p:sp>
      <p:sp>
        <p:nvSpPr>
          <p:cNvPr id="12" name="ZoneTexte 11">
            <a:extLst>
              <a:ext uri="{FF2B5EF4-FFF2-40B4-BE49-F238E27FC236}">
                <a16:creationId xmlns:a16="http://schemas.microsoft.com/office/drawing/2014/main" id="{A02B06AE-004E-C20A-B8AB-D2B52BC7B8B7}"/>
              </a:ext>
            </a:extLst>
          </p:cNvPr>
          <p:cNvSpPr txBox="1"/>
          <p:nvPr/>
        </p:nvSpPr>
        <p:spPr>
          <a:xfrm>
            <a:off x="8585200" y="3860800"/>
            <a:ext cx="2984500" cy="276999"/>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ARI</a:t>
            </a:r>
          </a:p>
        </p:txBody>
      </p:sp>
      <p:sp>
        <p:nvSpPr>
          <p:cNvPr id="13" name="ZoneTexte 12">
            <a:extLst>
              <a:ext uri="{FF2B5EF4-FFF2-40B4-BE49-F238E27FC236}">
                <a16:creationId xmlns:a16="http://schemas.microsoft.com/office/drawing/2014/main" id="{7F0C6FE9-813B-3369-4283-898A3FBFC6FB}"/>
              </a:ext>
            </a:extLst>
          </p:cNvPr>
          <p:cNvSpPr txBox="1"/>
          <p:nvPr/>
        </p:nvSpPr>
        <p:spPr>
          <a:xfrm>
            <a:off x="8585200" y="4394200"/>
            <a:ext cx="2984500" cy="276999"/>
          </a:xfrm>
          <a:prstGeom prst="rect">
            <a:avLst/>
          </a:prstGeom>
          <a:noFill/>
        </p:spPr>
        <p:txBody>
          <a:bodyPr vert="horz" wrap="square" lIns="0" tIns="0" rIns="0" bIns="0" rtlCol="0">
            <a:noAutofit/>
          </a:bodyPr>
          <a:lstStyle/>
          <a:p>
            <a:r>
              <a:rPr lang="fr-FR" sz="4300" b="1" dirty="0">
                <a:solidFill>
                  <a:srgbClr val="172F43"/>
                </a:solidFill>
                <a:latin typeface="Arial" panose="020B0604020202020204" pitchFamily="34" charset="0"/>
              </a:rPr>
              <a:t>-0,026</a:t>
            </a:r>
          </a:p>
        </p:txBody>
      </p:sp>
      <p:sp>
        <p:nvSpPr>
          <p:cNvPr id="14" name="ZoneTexte 13">
            <a:extLst>
              <a:ext uri="{FF2B5EF4-FFF2-40B4-BE49-F238E27FC236}">
                <a16:creationId xmlns:a16="http://schemas.microsoft.com/office/drawing/2014/main" id="{8B9A0ED8-682B-B9BF-C2E1-FB544B42F59D}"/>
              </a:ext>
            </a:extLst>
          </p:cNvPr>
          <p:cNvSpPr txBox="1"/>
          <p:nvPr/>
        </p:nvSpPr>
        <p:spPr>
          <a:xfrm>
            <a:off x="8585200" y="5283200"/>
            <a:ext cx="2984500" cy="276999"/>
          </a:xfrm>
          <a:prstGeom prst="rect">
            <a:avLst/>
          </a:prstGeom>
          <a:noFill/>
        </p:spPr>
        <p:txBody>
          <a:bodyPr vert="horz" wrap="square" lIns="0" tIns="0" rIns="0" bIns="0" rtlCol="0">
            <a:noAutofit/>
          </a:bodyPr>
          <a:lstStyle/>
          <a:p>
            <a:r>
              <a:rPr lang="fr-FR" sz="1700" dirty="0">
                <a:solidFill>
                  <a:srgbClr val="536473"/>
                </a:solidFill>
                <a:latin typeface="Arial" panose="020B0604020202020204" pitchFamily="34" charset="0"/>
              </a:rPr>
              <a:t>Sur 16 images fortes de validation</a:t>
            </a:r>
          </a:p>
        </p:txBody>
      </p:sp>
      <p:sp>
        <p:nvSpPr>
          <p:cNvPr id="15" name="ZoneTexte 14">
            <a:extLst>
              <a:ext uri="{FF2B5EF4-FFF2-40B4-BE49-F238E27FC236}">
                <a16:creationId xmlns:a16="http://schemas.microsoft.com/office/drawing/2014/main" id="{D5A939B9-FE5E-9CC5-11FA-6BF09B67430B}"/>
              </a:ext>
            </a:extLst>
          </p:cNvPr>
          <p:cNvSpPr txBox="1"/>
          <p:nvPr/>
        </p:nvSpPr>
        <p:spPr>
          <a:xfrm>
            <a:off x="609600" y="5219700"/>
            <a:ext cx="6705600" cy="276999"/>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L'ARI proche de zéro ne montre pas d'accord convaincant avec les labels connus.</a:t>
            </a:r>
          </a:p>
        </p:txBody>
      </p:sp>
    </p:spTree>
    <p:extLst>
      <p:ext uri="{BB962C8B-B14F-4D97-AF65-F5344CB8AC3E}">
        <p14:creationId xmlns:p14="http://schemas.microsoft.com/office/powerpoint/2010/main" val="1340919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C896E55B-364C-DB13-200F-9E82C59BEDFD}"/>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26A75885-6DC5-FD5D-5CA6-63C189FAB8AB}"/>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146A5CB-5251-7815-7D2A-65177F2D680B}"/>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7</a:t>
            </a:r>
          </a:p>
        </p:txBody>
      </p:sp>
      <p:sp>
        <p:nvSpPr>
          <p:cNvPr id="5" name="ZoneTexte 4">
            <a:extLst>
              <a:ext uri="{FF2B5EF4-FFF2-40B4-BE49-F238E27FC236}">
                <a16:creationId xmlns:a16="http://schemas.microsoft.com/office/drawing/2014/main" id="{B7B2C121-1F0F-F281-29B3-AB8EF1378261}"/>
              </a:ext>
            </a:extLst>
          </p:cNvPr>
          <p:cNvSpPr txBox="1"/>
          <p:nvPr/>
        </p:nvSpPr>
        <p:spPr>
          <a:xfrm>
            <a:off x="609600" y="1765300"/>
            <a:ext cx="3048000" cy="276999"/>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92912F32-AEAE-F0F6-9BF3-73ED1AF5279B}"/>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398ECFEC-63E8-6458-BE24-18F247DB6272}"/>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0CBE52C4-C4D5-19DA-2A74-6CC196D76195}"/>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FDFAEC57-6F00-A907-A572-C63C2B7E1D0F}"/>
              </a:ext>
            </a:extLst>
          </p:cNvPr>
          <p:cNvSpPr txBox="1"/>
          <p:nvPr/>
        </p:nvSpPr>
        <p:spPr>
          <a:xfrm>
            <a:off x="609600" y="3619500"/>
            <a:ext cx="7162800" cy="276999"/>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Le même CNN poursuit son entraînement.</a:t>
            </a:r>
          </a:p>
        </p:txBody>
      </p:sp>
      <p:sp>
        <p:nvSpPr>
          <p:cNvPr id="10" name="ZoneTexte 9">
            <a:extLst>
              <a:ext uri="{FF2B5EF4-FFF2-40B4-BE49-F238E27FC236}">
                <a16:creationId xmlns:a16="http://schemas.microsoft.com/office/drawing/2014/main" id="{FF4DE343-7F15-3ACB-04D6-CC421837F0DF}"/>
              </a:ext>
            </a:extLst>
          </p:cNvPr>
          <p:cNvSpPr txBox="1"/>
          <p:nvPr/>
        </p:nvSpPr>
        <p:spPr>
          <a:xfrm>
            <a:off x="609600" y="4457700"/>
            <a:ext cx="3048000" cy="276999"/>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6F5C5D36-2655-F893-A841-CF002153D95E}"/>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AA49B95D-1E6D-776D-DBDF-50F6DDE822C4}"/>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avec flèche 12">
            <a:extLst>
              <a:ext uri="{FF2B5EF4-FFF2-40B4-BE49-F238E27FC236}">
                <a16:creationId xmlns:a16="http://schemas.microsoft.com/office/drawing/2014/main" id="{8124E92D-4893-B8ED-6101-F1A12489AA40}"/>
              </a:ext>
            </a:extLst>
          </p:cNvPr>
          <p:cNvCxnSpPr/>
          <p:nvPr/>
        </p:nvCxnSpPr>
        <p:spPr>
          <a:xfrm>
            <a:off x="7785100" y="2870200"/>
            <a:ext cx="10541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4" name="Connecteur droit avec flèche 13">
            <a:extLst>
              <a:ext uri="{FF2B5EF4-FFF2-40B4-BE49-F238E27FC236}">
                <a16:creationId xmlns:a16="http://schemas.microsoft.com/office/drawing/2014/main" id="{B04E9024-3692-CC35-68E5-4BC9974CA333}"/>
              </a:ext>
            </a:extLst>
          </p:cNvPr>
          <p:cNvCxnSpPr/>
          <p:nvPr/>
        </p:nvCxnSpPr>
        <p:spPr>
          <a:xfrm>
            <a:off x="8839200" y="2870200"/>
            <a:ext cx="0" cy="64770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F2E16B2F-7C5C-6D83-A826-15E40CA4E0CF}"/>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avec flèche 15">
            <a:extLst>
              <a:ext uri="{FF2B5EF4-FFF2-40B4-BE49-F238E27FC236}">
                <a16:creationId xmlns:a16="http://schemas.microsoft.com/office/drawing/2014/main" id="{A3DAF9A8-0D8F-E268-0DE9-ACD76350C5D5}"/>
              </a:ext>
            </a:extLst>
          </p:cNvPr>
          <p:cNvCxnSpPr/>
          <p:nvPr/>
        </p:nvCxnSpPr>
        <p:spPr>
          <a:xfrm>
            <a:off x="7785100" y="4864100"/>
            <a:ext cx="10541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59207D23-389F-C9B9-559B-ADD122841994}"/>
              </a:ext>
            </a:extLst>
          </p:cNvPr>
          <p:cNvCxnSpPr/>
          <p:nvPr/>
        </p:nvCxnSpPr>
        <p:spPr>
          <a:xfrm flipV="1">
            <a:off x="8839200" y="4178300"/>
            <a:ext cx="0" cy="68580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75D28F9A-4B87-3E21-3BAD-03C56CE3C169}"/>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ABC3FC1A-2688-C754-A2ED-6FE16683BD86}"/>
              </a:ext>
            </a:extLst>
          </p:cNvPr>
          <p:cNvSpPr txBox="1"/>
          <p:nvPr/>
        </p:nvSpPr>
        <p:spPr>
          <a:xfrm>
            <a:off x="609600" y="5740400"/>
            <a:ext cx="10972800" cy="276999"/>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pré-entraîné, couches gelées. Seule la couche finale à deux sorties apprend : 1 026 paramètres.</a:t>
            </a:r>
          </a:p>
        </p:txBody>
      </p:sp>
    </p:spTree>
    <p:extLst>
      <p:ext uri="{BB962C8B-B14F-4D97-AF65-F5344CB8AC3E}">
        <p14:creationId xmlns:p14="http://schemas.microsoft.com/office/powerpoint/2010/main" val="147245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63090BF-DF54-FD34-6E85-B1518AF406B1}"/>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a:t>
            </a:r>
          </a:p>
        </p:txBody>
      </p:sp>
      <p:cxnSp>
        <p:nvCxnSpPr>
          <p:cNvPr id="3" name="Connecteur droit 2">
            <a:extLst>
              <a:ext uri="{FF2B5EF4-FFF2-40B4-BE49-F238E27FC236}">
                <a16:creationId xmlns:a16="http://schemas.microsoft.com/office/drawing/2014/main" id="{CD1C5A41-E275-7B40-F2AD-35D9390E50F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B9F8B7B-7562-F8EE-37BA-0D2A2445035A}"/>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8</a:t>
            </a:r>
          </a:p>
        </p:txBody>
      </p:sp>
      <p:sp>
        <p:nvSpPr>
          <p:cNvPr id="5" name="ZoneTexte 4">
            <a:extLst>
              <a:ext uri="{FF2B5EF4-FFF2-40B4-BE49-F238E27FC236}">
                <a16:creationId xmlns:a16="http://schemas.microsoft.com/office/drawing/2014/main" id="{E45DB22C-6ADA-FA80-B9DF-79CE86515421}"/>
              </a:ext>
            </a:extLst>
          </p:cNvPr>
          <p:cNvSpPr txBox="1"/>
          <p:nvPr/>
        </p:nvSpPr>
        <p:spPr>
          <a:xfrm>
            <a:off x="609600" y="1778000"/>
            <a:ext cx="6223000" cy="276999"/>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Même grille pour les deux méthodes</a:t>
            </a:r>
          </a:p>
        </p:txBody>
      </p:sp>
      <p:graphicFrame>
        <p:nvGraphicFramePr>
          <p:cNvPr id="6" name="Tableau 5">
            <a:extLst>
              <a:ext uri="{FF2B5EF4-FFF2-40B4-BE49-F238E27FC236}">
                <a16:creationId xmlns:a16="http://schemas.microsoft.com/office/drawing/2014/main" id="{B9D294D5-6129-2639-AE00-92265CA4AC28}"/>
              </a:ext>
            </a:extLst>
          </p:cNvPr>
          <p:cNvGraphicFramePr>
            <a:graphicFrameLocks noGrp="1"/>
          </p:cNvGraphicFramePr>
          <p:nvPr>
            <p:extLst>
              <p:ext uri="{D42A27DB-BD31-4B8C-83A1-F6EECF244321}">
                <p14:modId xmlns:p14="http://schemas.microsoft.com/office/powerpoint/2010/main" val="2811153924"/>
              </p:ext>
            </p:extLst>
          </p:nvPr>
        </p:nvGraphicFramePr>
        <p:xfrm>
          <a:off x="609600" y="2362200"/>
          <a:ext cx="6286500" cy="2603500"/>
        </p:xfrm>
        <a:graphic>
          <a:graphicData uri="http://schemas.openxmlformats.org/drawingml/2006/table">
            <a:tbl>
              <a:tblPr firstRow="1" bandRow="1">
                <a:tableStyleId>{5C22544A-7EE6-4342-B048-85BDC9FD1C3A}</a:tableStyleId>
              </a:tblPr>
              <a:tblGrid>
                <a:gridCol w="1422400">
                  <a:extLst>
                    <a:ext uri="{9D8B030D-6E8A-4147-A177-3AD203B41FA5}">
                      <a16:colId xmlns:a16="http://schemas.microsoft.com/office/drawing/2014/main" val="2640833843"/>
                    </a:ext>
                  </a:extLst>
                </a:gridCol>
                <a:gridCol w="1866900">
                  <a:extLst>
                    <a:ext uri="{9D8B030D-6E8A-4147-A177-3AD203B41FA5}">
                      <a16:colId xmlns:a16="http://schemas.microsoft.com/office/drawing/2014/main" val="1606128527"/>
                    </a:ext>
                  </a:extLst>
                </a:gridCol>
                <a:gridCol w="1460500">
                  <a:extLst>
                    <a:ext uri="{9D8B030D-6E8A-4147-A177-3AD203B41FA5}">
                      <a16:colId xmlns:a16="http://schemas.microsoft.com/office/drawing/2014/main" val="2635598735"/>
                    </a:ext>
                  </a:extLst>
                </a:gridCol>
                <a:gridCol w="1536700">
                  <a:extLst>
                    <a:ext uri="{9D8B030D-6E8A-4147-A177-3AD203B41FA5}">
                      <a16:colId xmlns:a16="http://schemas.microsoft.com/office/drawing/2014/main" val="423237421"/>
                    </a:ext>
                  </a:extLst>
                </a:gridCol>
              </a:tblGrid>
              <a:tr h="520700">
                <a:tc>
                  <a:txBody>
                    <a:bodyPr/>
                    <a:lstStyle/>
                    <a:p>
                      <a:pPr algn="l"/>
                      <a:r>
                        <a:rPr lang="fr-FR" sz="17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7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4135060244"/>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0,7317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919453846"/>
                  </a:ext>
                </a:extLst>
              </a:tr>
              <a:tr h="520700">
                <a:tc>
                  <a:txBody>
                    <a:bodyPr/>
                    <a:lstStyle/>
                    <a:p>
                      <a:pPr algn="l"/>
                      <a:r>
                        <a:rPr lang="fr-FR" sz="17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0,5682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0,7500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9070839"/>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0,9091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700" b="0" dirty="0">
                          <a:solidFill>
                            <a:srgbClr val="172F43"/>
                          </a:solidFill>
                          <a:latin typeface="Arial" panose="020B0604020202020204" pitchFamily="34" charset="0"/>
                        </a:rPr>
                        <a:t>0,5405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360875260"/>
                  </a:ext>
                </a:extLst>
              </a:tr>
              <a:tr h="520700">
                <a:tc>
                  <a:txBody>
                    <a:bodyPr/>
                    <a:lstStyle/>
                    <a:p>
                      <a:pPr algn="l"/>
                      <a:r>
                        <a:rPr lang="fr-FR" sz="17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0,9756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700" b="0" dirty="0">
                          <a:solidFill>
                            <a:srgbClr val="172F43"/>
                          </a:solidFill>
                          <a:latin typeface="Arial" panose="020B0604020202020204" pitchFamily="34" charset="0"/>
                        </a:rPr>
                        <a:t>0,7692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5509957"/>
                  </a:ext>
                </a:extLst>
              </a:tr>
            </a:tbl>
          </a:graphicData>
        </a:graphic>
      </p:graphicFrame>
      <p:sp>
        <p:nvSpPr>
          <p:cNvPr id="7" name="ZoneTexte 6">
            <a:extLst>
              <a:ext uri="{FF2B5EF4-FFF2-40B4-BE49-F238E27FC236}">
                <a16:creationId xmlns:a16="http://schemas.microsoft.com/office/drawing/2014/main" id="{4F5CF7DF-4BA4-827C-C82C-933DC0C9B536}"/>
              </a:ext>
            </a:extLst>
          </p:cNvPr>
          <p:cNvSpPr txBox="1"/>
          <p:nvPr/>
        </p:nvSpPr>
        <p:spPr>
          <a:xfrm>
            <a:off x="609600" y="5194300"/>
            <a:ext cx="6286500" cy="276999"/>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Les deux recherches retiennent 0,001 et 10 époques fortes.</a:t>
            </a:r>
          </a:p>
        </p:txBody>
      </p:sp>
      <p:sp>
        <p:nvSpPr>
          <p:cNvPr id="8" name="ZoneTexte 7">
            <a:extLst>
              <a:ext uri="{FF2B5EF4-FFF2-40B4-BE49-F238E27FC236}">
                <a16:creationId xmlns:a16="http://schemas.microsoft.com/office/drawing/2014/main" id="{EC39C577-1A52-1B49-F870-DD60650A6067}"/>
              </a:ext>
            </a:extLst>
          </p:cNvPr>
          <p:cNvSpPr txBox="1"/>
          <p:nvPr/>
        </p:nvSpPr>
        <p:spPr>
          <a:xfrm>
            <a:off x="7493000" y="1778000"/>
            <a:ext cx="4089400" cy="276999"/>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16 labels forts pour sélectionner les paramètres. Le test final reste réservé.</a:t>
            </a:r>
          </a:p>
        </p:txBody>
      </p:sp>
      <p:sp>
        <p:nvSpPr>
          <p:cNvPr id="9" name="ZoneTexte 8">
            <a:extLst>
              <a:ext uri="{FF2B5EF4-FFF2-40B4-BE49-F238E27FC236}">
                <a16:creationId xmlns:a16="http://schemas.microsoft.com/office/drawing/2014/main" id="{4E5CB596-02E0-D9CC-69D0-8EF0403DBF41}"/>
              </a:ext>
            </a:extLst>
          </p:cNvPr>
          <p:cNvSpPr txBox="1"/>
          <p:nvPr/>
        </p:nvSpPr>
        <p:spPr>
          <a:xfrm>
            <a:off x="7493000" y="2908300"/>
            <a:ext cx="4089400" cy="276999"/>
          </a:xfrm>
          <a:prstGeom prst="rect">
            <a:avLst/>
          </a:prstGeom>
          <a:noFill/>
        </p:spPr>
        <p:txBody>
          <a:bodyPr vert="horz" wrap="square" lIns="0" tIns="0" rIns="0" bIns="0" rtlCol="0">
            <a:noAutofit/>
          </a:bodyPr>
          <a:lstStyle/>
          <a:p>
            <a:r>
              <a:rPr lang="fr-FR" dirty="0" err="1">
                <a:solidFill>
                  <a:srgbClr val="172F43"/>
                </a:solidFill>
                <a:latin typeface="Arial" panose="020B0604020202020204" pitchFamily="34" charset="0"/>
              </a:rPr>
              <a:t>Accuracy</a:t>
            </a:r>
            <a:r>
              <a:rPr lang="fr-FR"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spTree>
    <p:extLst>
      <p:ext uri="{BB962C8B-B14F-4D97-AF65-F5344CB8AC3E}">
        <p14:creationId xmlns:p14="http://schemas.microsoft.com/office/powerpoint/2010/main" val="2000333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BA6250A3-B690-81D8-4C5F-E6B339B51CB5}"/>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D4C04BD5-9D67-51E6-877E-8E5ABE272E3B}"/>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B128C73E-6ED4-899C-3BF8-93D783EDC733}"/>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CABE2980-6874-B26D-F1D9-2F7C392A6BD9}"/>
              </a:ext>
            </a:extLst>
          </p:cNvPr>
          <p:cNvGraphicFramePr>
            <a:graphicFrameLocks noGrp="1"/>
          </p:cNvGraphicFramePr>
          <p:nvPr>
            <p:extLst>
              <p:ext uri="{D42A27DB-BD31-4B8C-83A1-F6EECF244321}">
                <p14:modId xmlns:p14="http://schemas.microsoft.com/office/powerpoint/2010/main" val="259116052"/>
              </p:ext>
            </p:extLst>
          </p:nvPr>
        </p:nvGraphicFramePr>
        <p:xfrm>
          <a:off x="609600" y="1854200"/>
          <a:ext cx="5715000" cy="2921000"/>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245749132"/>
                    </a:ext>
                  </a:extLst>
                </a:gridCol>
                <a:gridCol w="1828800">
                  <a:extLst>
                    <a:ext uri="{9D8B030D-6E8A-4147-A177-3AD203B41FA5}">
                      <a16:colId xmlns:a16="http://schemas.microsoft.com/office/drawing/2014/main" val="3581740817"/>
                    </a:ext>
                  </a:extLst>
                </a:gridCol>
                <a:gridCol w="1574800">
                  <a:extLst>
                    <a:ext uri="{9D8B030D-6E8A-4147-A177-3AD203B41FA5}">
                      <a16:colId xmlns:a16="http://schemas.microsoft.com/office/drawing/2014/main" val="3149694962"/>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167742263"/>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8196984"/>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0,889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0,947</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042874716"/>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551517191"/>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0,800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0,900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25021151"/>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0,833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0,918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721255634"/>
                  </a:ext>
                </a:extLst>
              </a:tr>
            </a:tbl>
          </a:graphicData>
        </a:graphic>
      </p:graphicFrame>
      <p:sp>
        <p:nvSpPr>
          <p:cNvPr id="6" name="ZoneTexte 5">
            <a:extLst>
              <a:ext uri="{FF2B5EF4-FFF2-40B4-BE49-F238E27FC236}">
                <a16:creationId xmlns:a16="http://schemas.microsoft.com/office/drawing/2014/main" id="{DB0CFA2F-EE5E-BC19-7427-BBC4655316FD}"/>
              </a:ext>
            </a:extLst>
          </p:cNvPr>
          <p:cNvSpPr txBox="1"/>
          <p:nvPr/>
        </p:nvSpPr>
        <p:spPr>
          <a:xfrm>
            <a:off x="6769100" y="1803400"/>
            <a:ext cx="2235200" cy="276999"/>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Faible puis fort</a:t>
            </a:r>
          </a:p>
        </p:txBody>
      </p:sp>
      <p:sp>
        <p:nvSpPr>
          <p:cNvPr id="7" name="ZoneTexte 6">
            <a:extLst>
              <a:ext uri="{FF2B5EF4-FFF2-40B4-BE49-F238E27FC236}">
                <a16:creationId xmlns:a16="http://schemas.microsoft.com/office/drawing/2014/main" id="{FEC97022-A396-46BD-F85F-762ECB76D899}"/>
              </a:ext>
            </a:extLst>
          </p:cNvPr>
          <p:cNvSpPr txBox="1"/>
          <p:nvPr/>
        </p:nvSpPr>
        <p:spPr>
          <a:xfrm>
            <a:off x="7200900" y="2260600"/>
            <a:ext cx="1803400" cy="276999"/>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635EB865-AECD-8183-2C37-4678A50B879E}"/>
              </a:ext>
            </a:extLst>
          </p:cNvPr>
          <p:cNvGraphicFramePr>
            <a:graphicFrameLocks noGrp="1"/>
          </p:cNvGraphicFramePr>
          <p:nvPr>
            <p:extLst>
              <p:ext uri="{D42A27DB-BD31-4B8C-83A1-F6EECF244321}">
                <p14:modId xmlns:p14="http://schemas.microsoft.com/office/powerpoint/2010/main" val="2747529440"/>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418060677"/>
                    </a:ext>
                  </a:extLst>
                </a:gridCol>
                <a:gridCol w="635000">
                  <a:extLst>
                    <a:ext uri="{9D8B030D-6E8A-4147-A177-3AD203B41FA5}">
                      <a16:colId xmlns:a16="http://schemas.microsoft.com/office/drawing/2014/main" val="451499727"/>
                    </a:ext>
                  </a:extLst>
                </a:gridCol>
                <a:gridCol w="635000">
                  <a:extLst>
                    <a:ext uri="{9D8B030D-6E8A-4147-A177-3AD203B41FA5}">
                      <a16:colId xmlns:a16="http://schemas.microsoft.com/office/drawing/2014/main" val="3451034831"/>
                    </a:ext>
                  </a:extLst>
                </a:gridCol>
              </a:tblGrid>
              <a:tr h="508000">
                <a:tc>
                  <a:txBody>
                    <a:bodyPr/>
                    <a:lstStyle/>
                    <a:p>
                      <a:pPr algn="l"/>
                      <a:r>
                        <a:rPr lang="fr-FR" sz="1400" b="1" dirty="0">
                          <a:solidFill>
                            <a:srgbClr val="FFFFFF"/>
                          </a:solidFill>
                          <a:latin typeface="Arial" panose="020B0604020202020204" pitchFamily="34" charset="0"/>
                        </a:rPr>
                        <a:t>Vrai / prédit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17630927"/>
                  </a:ext>
                </a:extLst>
              </a:tr>
              <a:tr h="508000">
                <a:tc>
                  <a:txBody>
                    <a:bodyPr/>
                    <a:lstStyle/>
                    <a:p>
                      <a:pPr algn="l"/>
                      <a:r>
                        <a:rPr lang="fr-FR" sz="14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73090091"/>
                  </a:ext>
                </a:extLst>
              </a:tr>
              <a:tr h="508000">
                <a:tc>
                  <a:txBody>
                    <a:bodyPr/>
                    <a:lstStyle/>
                    <a:p>
                      <a:pPr algn="l"/>
                      <a:r>
                        <a:rPr lang="fr-FR" sz="14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57009697"/>
                  </a:ext>
                </a:extLst>
              </a:tr>
            </a:tbl>
          </a:graphicData>
        </a:graphic>
      </p:graphicFrame>
      <p:sp>
        <p:nvSpPr>
          <p:cNvPr id="9" name="ZoneTexte 8">
            <a:extLst>
              <a:ext uri="{FF2B5EF4-FFF2-40B4-BE49-F238E27FC236}">
                <a16:creationId xmlns:a16="http://schemas.microsoft.com/office/drawing/2014/main" id="{9106518A-16C4-D709-0159-252E1C241304}"/>
              </a:ext>
            </a:extLst>
          </p:cNvPr>
          <p:cNvSpPr txBox="1"/>
          <p:nvPr/>
        </p:nvSpPr>
        <p:spPr>
          <a:xfrm>
            <a:off x="9321800" y="1803400"/>
            <a:ext cx="2235200" cy="276999"/>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Fort uniquement</a:t>
            </a:r>
          </a:p>
        </p:txBody>
      </p:sp>
      <p:sp>
        <p:nvSpPr>
          <p:cNvPr id="10" name="ZoneTexte 9">
            <a:extLst>
              <a:ext uri="{FF2B5EF4-FFF2-40B4-BE49-F238E27FC236}">
                <a16:creationId xmlns:a16="http://schemas.microsoft.com/office/drawing/2014/main" id="{E68F0807-CEE5-0AF9-F665-FA7DAF93837C}"/>
              </a:ext>
            </a:extLst>
          </p:cNvPr>
          <p:cNvSpPr txBox="1"/>
          <p:nvPr/>
        </p:nvSpPr>
        <p:spPr>
          <a:xfrm>
            <a:off x="9753600" y="2260600"/>
            <a:ext cx="1803400" cy="276999"/>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DAA99114-22EE-251C-7C96-C6F21A831D88}"/>
              </a:ext>
            </a:extLst>
          </p:cNvPr>
          <p:cNvGraphicFramePr>
            <a:graphicFrameLocks noGrp="1"/>
          </p:cNvGraphicFramePr>
          <p:nvPr>
            <p:extLst>
              <p:ext uri="{D42A27DB-BD31-4B8C-83A1-F6EECF244321}">
                <p14:modId xmlns:p14="http://schemas.microsoft.com/office/powerpoint/2010/main" val="1850533408"/>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387800823"/>
                    </a:ext>
                  </a:extLst>
                </a:gridCol>
                <a:gridCol w="635000">
                  <a:extLst>
                    <a:ext uri="{9D8B030D-6E8A-4147-A177-3AD203B41FA5}">
                      <a16:colId xmlns:a16="http://schemas.microsoft.com/office/drawing/2014/main" val="2286071537"/>
                    </a:ext>
                  </a:extLst>
                </a:gridCol>
                <a:gridCol w="635000">
                  <a:extLst>
                    <a:ext uri="{9D8B030D-6E8A-4147-A177-3AD203B41FA5}">
                      <a16:colId xmlns:a16="http://schemas.microsoft.com/office/drawing/2014/main" val="3283458745"/>
                    </a:ext>
                  </a:extLst>
                </a:gridCol>
              </a:tblGrid>
              <a:tr h="508000">
                <a:tc>
                  <a:txBody>
                    <a:bodyPr/>
                    <a:lstStyle/>
                    <a:p>
                      <a:pPr algn="l"/>
                      <a:r>
                        <a:rPr lang="fr-FR" sz="1400" b="1" dirty="0">
                          <a:solidFill>
                            <a:srgbClr val="FFFFFF"/>
                          </a:solidFill>
                          <a:latin typeface="Arial" panose="020B0604020202020204" pitchFamily="34" charset="0"/>
                        </a:rPr>
                        <a:t>Vrai / prédit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513932814"/>
                  </a:ext>
                </a:extLst>
              </a:tr>
              <a:tr h="508000">
                <a:tc>
                  <a:txBody>
                    <a:bodyPr/>
                    <a:lstStyle/>
                    <a:p>
                      <a:pPr algn="l"/>
                      <a:r>
                        <a:rPr lang="fr-FR" sz="14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549712336"/>
                  </a:ext>
                </a:extLst>
              </a:tr>
              <a:tr h="508000">
                <a:tc>
                  <a:txBody>
                    <a:bodyPr/>
                    <a:lstStyle/>
                    <a:p>
                      <a:pPr algn="l"/>
                      <a:r>
                        <a:rPr lang="fr-FR" sz="14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88471236"/>
                  </a:ext>
                </a:extLst>
              </a:tr>
            </a:tbl>
          </a:graphicData>
        </a:graphic>
      </p:graphicFrame>
      <p:sp>
        <p:nvSpPr>
          <p:cNvPr id="12" name="ZoneTexte 11">
            <a:extLst>
              <a:ext uri="{FF2B5EF4-FFF2-40B4-BE49-F238E27FC236}">
                <a16:creationId xmlns:a16="http://schemas.microsoft.com/office/drawing/2014/main" id="{212630C0-8E64-5C86-F63A-D220CB2A46A1}"/>
              </a:ext>
            </a:extLst>
          </p:cNvPr>
          <p:cNvSpPr txBox="1"/>
          <p:nvPr/>
        </p:nvSpPr>
        <p:spPr>
          <a:xfrm>
            <a:off x="6769100" y="4356100"/>
            <a:ext cx="2336800" cy="276999"/>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FF8CA2D7-7044-F124-4D72-A1F47E78A97A}"/>
              </a:ext>
            </a:extLst>
          </p:cNvPr>
          <p:cNvSpPr txBox="1"/>
          <p:nvPr/>
        </p:nvSpPr>
        <p:spPr>
          <a:xfrm>
            <a:off x="9321800" y="4356100"/>
            <a:ext cx="2336800" cy="276999"/>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06B1C957-40B5-D8DD-C572-AF83FB3F1345}"/>
              </a:ext>
            </a:extLst>
          </p:cNvPr>
          <p:cNvSpPr txBox="1"/>
          <p:nvPr/>
        </p:nvSpPr>
        <p:spPr>
          <a:xfrm>
            <a:off x="609600" y="5143500"/>
            <a:ext cx="10972800" cy="276999"/>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 supervisé obtient le meilleur F1 cancer dans cette expérience.</a:t>
            </a:r>
          </a:p>
        </p:txBody>
      </p:sp>
      <p:sp>
        <p:nvSpPr>
          <p:cNvPr id="15" name="ZoneTexte 14">
            <a:extLst>
              <a:ext uri="{FF2B5EF4-FFF2-40B4-BE49-F238E27FC236}">
                <a16:creationId xmlns:a16="http://schemas.microsoft.com/office/drawing/2014/main" id="{01DF02F7-08B3-BC1B-71BE-C7A960D2FB49}"/>
              </a:ext>
            </a:extLst>
          </p:cNvPr>
          <p:cNvSpPr txBox="1"/>
          <p:nvPr/>
        </p:nvSpPr>
        <p:spPr>
          <a:xfrm>
            <a:off x="609600" y="5905500"/>
            <a:ext cx="10972800" cy="276999"/>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14969063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8644022-65AA-4FEB-844E-7EC29FC25ADD}"/>
              </a:ext>
            </a:extLst>
          </p:cNvPr>
          <p:cNvSpPr txBox="1"/>
          <p:nvPr/>
        </p:nvSpPr>
        <p:spPr>
          <a:xfrm>
            <a:off x="609600" y="381000"/>
            <a:ext cx="10998200" cy="276999"/>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Bilan et limites de l'expérience</a:t>
            </a:r>
          </a:p>
        </p:txBody>
      </p:sp>
      <p:cxnSp>
        <p:nvCxnSpPr>
          <p:cNvPr id="3" name="Connecteur droit 2">
            <a:extLst>
              <a:ext uri="{FF2B5EF4-FFF2-40B4-BE49-F238E27FC236}">
                <a16:creationId xmlns:a16="http://schemas.microsoft.com/office/drawing/2014/main" id="{A5730F5D-CBF1-22FF-1827-9A28600B6E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0CF358E-D214-F53F-FA99-483D0E7F8DB6}"/>
              </a:ext>
            </a:extLst>
          </p:cNvPr>
          <p:cNvSpPr txBox="1"/>
          <p:nvPr/>
        </p:nvSpPr>
        <p:spPr>
          <a:xfrm>
            <a:off x="11150600" y="6451600"/>
            <a:ext cx="431800" cy="276999"/>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5" name="ZoneTexte 4">
            <a:extLst>
              <a:ext uri="{FF2B5EF4-FFF2-40B4-BE49-F238E27FC236}">
                <a16:creationId xmlns:a16="http://schemas.microsoft.com/office/drawing/2014/main" id="{1AF2A099-D9F8-4CB1-E1DA-8613A816ACA0}"/>
              </a:ext>
            </a:extLst>
          </p:cNvPr>
          <p:cNvSpPr txBox="1"/>
          <p:nvPr/>
        </p:nvSpPr>
        <p:spPr>
          <a:xfrm>
            <a:off x="609600" y="1854200"/>
            <a:ext cx="5130800" cy="276999"/>
          </a:xfrm>
          <a:prstGeom prst="rect">
            <a:avLst/>
          </a:prstGeom>
          <a:noFill/>
        </p:spPr>
        <p:txBody>
          <a:bodyPr vert="horz" wrap="square" lIns="0" tIns="0" rIns="0" bIns="0" rtlCol="0">
            <a:noAutofit/>
          </a:bodyPr>
          <a:lstStyle/>
          <a:p>
            <a:r>
              <a:rPr lang="fr-FR" sz="2500" b="1" dirty="0">
                <a:solidFill>
                  <a:srgbClr val="007F82"/>
                </a:solidFill>
                <a:latin typeface="Arial" panose="020B0604020202020204" pitchFamily="34" charset="0"/>
              </a:rPr>
              <a:t>La chaîne technique est en place</a:t>
            </a:r>
          </a:p>
        </p:txBody>
      </p:sp>
      <p:sp>
        <p:nvSpPr>
          <p:cNvPr id="6" name="ZoneTexte 5">
            <a:extLst>
              <a:ext uri="{FF2B5EF4-FFF2-40B4-BE49-F238E27FC236}">
                <a16:creationId xmlns:a16="http://schemas.microsoft.com/office/drawing/2014/main" id="{022F1DE6-A09C-E9B9-C7AD-8C495A1D7F9A}"/>
              </a:ext>
            </a:extLst>
          </p:cNvPr>
          <p:cNvSpPr txBox="1"/>
          <p:nvPr/>
        </p:nvSpPr>
        <p:spPr>
          <a:xfrm>
            <a:off x="609600" y="2832100"/>
            <a:ext cx="5130800" cy="276999"/>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Le notebook extrait les </a:t>
            </a:r>
            <a:r>
              <a:rPr lang="fr-FR" sz="2200" dirty="0" err="1">
                <a:solidFill>
                  <a:srgbClr val="172F43"/>
                </a:solidFill>
                <a:latin typeface="Arial" panose="020B0604020202020204" pitchFamily="34" charset="0"/>
              </a:rPr>
              <a:t>features</a:t>
            </a:r>
            <a:r>
              <a:rPr lang="fr-FR" sz="2200" dirty="0">
                <a:solidFill>
                  <a:srgbClr val="172F43"/>
                </a:solidFill>
                <a:latin typeface="Arial" panose="020B0604020202020204" pitchFamily="34" charset="0"/>
              </a:rPr>
              <a:t>, compare les clusterings et entraîne les deux approches CNN.</a:t>
            </a:r>
          </a:p>
        </p:txBody>
      </p:sp>
      <p:sp>
        <p:nvSpPr>
          <p:cNvPr id="7" name="ZoneTexte 6">
            <a:extLst>
              <a:ext uri="{FF2B5EF4-FFF2-40B4-BE49-F238E27FC236}">
                <a16:creationId xmlns:a16="http://schemas.microsoft.com/office/drawing/2014/main" id="{F02103C0-F6CD-C9E7-90A5-1322BE257E0A}"/>
              </a:ext>
            </a:extLst>
          </p:cNvPr>
          <p:cNvSpPr txBox="1"/>
          <p:nvPr/>
        </p:nvSpPr>
        <p:spPr>
          <a:xfrm>
            <a:off x="609600" y="4445000"/>
            <a:ext cx="5130800" cy="276999"/>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Dans cette configuration, le supervisé obtient les meilleures performances sur le test fort.</a:t>
            </a:r>
          </a:p>
        </p:txBody>
      </p:sp>
      <p:sp>
        <p:nvSpPr>
          <p:cNvPr id="8" name="ZoneTexte 7">
            <a:extLst>
              <a:ext uri="{FF2B5EF4-FFF2-40B4-BE49-F238E27FC236}">
                <a16:creationId xmlns:a16="http://schemas.microsoft.com/office/drawing/2014/main" id="{E251A714-56AB-393F-DF87-8AC3E4E29E99}"/>
              </a:ext>
            </a:extLst>
          </p:cNvPr>
          <p:cNvSpPr txBox="1"/>
          <p:nvPr/>
        </p:nvSpPr>
        <p:spPr>
          <a:xfrm>
            <a:off x="6553200" y="1854200"/>
            <a:ext cx="5029200" cy="276999"/>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Les résultats restent exploratoires</a:t>
            </a:r>
          </a:p>
        </p:txBody>
      </p:sp>
      <p:sp>
        <p:nvSpPr>
          <p:cNvPr id="9" name="ZoneTexte 8">
            <a:extLst>
              <a:ext uri="{FF2B5EF4-FFF2-40B4-BE49-F238E27FC236}">
                <a16:creationId xmlns:a16="http://schemas.microsoft.com/office/drawing/2014/main" id="{066B034B-C284-9D11-614C-C99D994641AD}"/>
              </a:ext>
            </a:extLst>
          </p:cNvPr>
          <p:cNvSpPr txBox="1"/>
          <p:nvPr/>
        </p:nvSpPr>
        <p:spPr>
          <a:xfrm>
            <a:off x="6553200" y="2832100"/>
            <a:ext cx="5029200" cy="276999"/>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20 images de test et 16 de validation limitent la portée de la comparaison.
L'ARI est proche de zéro. Les groupes 0/1 restent distincts des classes médicales.
La correspondance des groupes avec normal/cancer reste à vérifier.</a:t>
            </a:r>
          </a:p>
        </p:txBody>
      </p:sp>
      <p:sp>
        <p:nvSpPr>
          <p:cNvPr id="10" name="ZoneTexte 9">
            <a:extLst>
              <a:ext uri="{FF2B5EF4-FFF2-40B4-BE49-F238E27FC236}">
                <a16:creationId xmlns:a16="http://schemas.microsoft.com/office/drawing/2014/main" id="{FC827E5B-D0AE-3EAE-750C-01B7691155C3}"/>
              </a:ext>
            </a:extLst>
          </p:cNvPr>
          <p:cNvSpPr txBox="1"/>
          <p:nvPr/>
        </p:nvSpPr>
        <p:spPr>
          <a:xfrm>
            <a:off x="609600" y="6388100"/>
            <a:ext cx="10223500" cy="276999"/>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Aucun seuil de performance ni validation clinique n'est établi.</a:t>
            </a:r>
          </a:p>
        </p:txBody>
      </p:sp>
    </p:spTree>
    <p:extLst>
      <p:ext uri="{BB962C8B-B14F-4D97-AF65-F5344CB8AC3E}">
        <p14:creationId xmlns:p14="http://schemas.microsoft.com/office/powerpoint/2010/main" val="123552260"/>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2103</Words>
  <Application>Microsoft Office PowerPoint</Application>
  <PresentationFormat>Personnalisé</PresentationFormat>
  <Paragraphs>218</Paragraphs>
  <Slides>10</Slides>
  <Notes>10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1</cp:revision>
  <dcterms:created xsi:type="dcterms:W3CDTF">2026-10-09T08:30:26Z</dcterms:created>
  <dcterms:modified xsi:type="dcterms:W3CDTF">2026-10-09T08:30:26Z</dcterms:modified>
</cp:coreProperties>
</file>