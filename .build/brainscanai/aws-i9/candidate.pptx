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Le PC i9 constitue la base réelle de comparaison. Les 24 cœurs AWS sont tous des cœurs Xeon, tandis que le i9 combine 8 cœurs Performance et 16 Efficient. Le nombre de vCPU AWS est un nombre de threads et ne doit pas être confondu avec les cœurs physiques. Une c7i.8xlarge aurait 32 vCPU mais seulement 16 cœurs physiques. Le choix c7i.12xlarge conserve 24 cœurs physiques pour établir le devis, sans prétendre que ce critère suffit à prouver une puissance identique. La fréquence du i9 (jusqu'à 6 GHz sur les conditions Intel de turbo) et le turbo tous cœurs du Xeon (3.2 GHz) ne sont pas directement comparables, et aucun rapport de vitesse n'en est déduit.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a:t>
            </a:r>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Prototypage de 30 heures de travail demandé par l'utilisateur. VM supposée active pendant ces 30 h, y compris installation, essais, extraction, hyperparamètres et entraînements. Cela ne signifie pas que l'entraînement seul dure 30 h. Arrêter la VM pendant la rédaction réduit son coût. Calcul exact : VM+IP = 68.39442159842660468442696228 EUR, disque = 4.148042195601644913284462721 EUR, images + accès dataset = 0.008445758155175319366755179465 EUR, total = 72.55090955218342491707818018 EUR. Somme des lignes affichées : 68.39+4.15+0.01 = 72.55 EUR. Temps humain non chiffré, conformément à la mention choisie par l'utilisateur dans la source.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Prédiction avec CNN déjà entraîné, sans réentraînement sur 4 M. Hypothèse conditionnelle d'équivalence de débit au i9 : 8.2 h AWS, soit 41 min par lot mensuel. La machine est identique à celle du prototype. Calcul = durée réelle AWS * tarif horaire ; à vitesse différente, remplacer 8.2 h par la mesure AWS. Machine : 18.69447523690327194707670302 EUR. Une fois : images conservées 12 mois, disque de travail conservé un mois puis supprimé, VM arrêtée et IP libérée après le traitement. Total = 67.03449822748305169886785772 EUR, somme affichée 18.69+23.74+4.15+20.45 = 67.03 EUR. Glissant : 333333 images au début de onze mois et 333337 au dernier, 12 mois de conservation par image, VM arrêtée entre lots, disque conservé 12 mois. Le premier exercice part d'un stockage vide. Stockage S3 année 1 = 6.5 volumes complets-mois, 12.85799758345302 EUR. Total première année = 101.7831182700255170598142251 EUR, somme affichée 18.69+12.86+49.78+20.45 = 101.78 EUR. À partir de l'année 2, stock stable de 4 M images si suppression après 12 mois et même rythme annuel, total = 112.6629623791011457449969476 EUR/an. Le prototype à 72.55 EUR est exclu de cette table, ajouter une fois si le budget 5000 EUR comprend également cette phase. Requêtes : une PUT et une GET par image. Budget de contrôle humain et réentraînements non inclus.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48 vCPU ne constituent pas une preuve d'équivalence au i9 : il faut mesurer le débit de la même chaîne. Le temps source affiché est conservé, sans le présenter comme une mesure AWS. Si AWS est plus lent, le coût de calcul augmente au même tarif horaire, tandis que les postes fixes de stockage suivent les politiques indiquées. À titre de sensibilité, 8760 h de VM active en continu coûteraient 19971.17110674056856785267299 EUR HT avant stockage : dépasser 5000 EUR est possible si la VM reste allumée toute l'année. Le scénario glissant suppose explicitement une VM arrêtée entre les douze lots. RAM : environ 3.2 GiB observés pour l'ensemble du processus Python sur la machine locale, pas un minimum total pour Windows ou Linux. Les 96 GiB AWS sont imposés par la taille CPU choisie. Charger les 4 M tenseurs normalisés RGB 224*224 float32 ensemble occuperait 2408448000000 octets soit environ 2.19 TiB. Le chargement progressif est nécessaire malgré les 96 GiB. Lecture : aucun goulot cloud n'a été déjà mesuré ; préchargement et GPU seulement à tester selon le profil de calcul et lecture. Qualité des 4 M labels non démontrée par un test de 20 images, aucune validation clinique. Le coût du contrôle humain reste à chiffrer.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439823545"/>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r>
                        <a:rPr lang="fr-FR" sz="1400" b="1" dirty="0">
                          <a:solidFill>
                            <a:srgbClr val="FFFFFF"/>
                          </a:solidFill>
                          <a:latin typeface="Arial" panose="020B0604020202020204" pitchFamily="34" charset="0"/>
                        </a:rPr>
                        <a:t> faible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2413A70E-EC57-E655-A698-C59B54985C20}"/>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Référence i9 et dimensionnement AWS</a:t>
            </a:r>
          </a:p>
        </p:txBody>
      </p:sp>
      <p:cxnSp>
        <p:nvCxnSpPr>
          <p:cNvPr id="6" name="Connecteur droit 5">
            <a:extLst>
              <a:ext uri="{FF2B5EF4-FFF2-40B4-BE49-F238E27FC236}">
                <a16:creationId xmlns:a16="http://schemas.microsoft.com/office/drawing/2014/main" id="{E815C779-2371-53D6-AEAD-17FBD63C45C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6E2F6A98-3EDF-17B0-AAF9-C4E19E026A4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8" name="ZoneTexte 7">
            <a:extLst>
              <a:ext uri="{FF2B5EF4-FFF2-40B4-BE49-F238E27FC236}">
                <a16:creationId xmlns:a16="http://schemas.microsoft.com/office/drawing/2014/main" id="{E41E8DFF-FB72-EA3C-6CA1-8B4A7396D493}"/>
              </a:ext>
            </a:extLst>
          </p:cNvPr>
          <p:cNvSpPr txBox="1"/>
          <p:nvPr/>
        </p:nvSpPr>
        <p:spPr>
          <a:xfrm>
            <a:off x="609600" y="1701799"/>
            <a:ext cx="10972800" cy="6858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Machine retenue pour le devis : c7i.12xlarge à Paris. Objectif : retrouver le débit mesuré sur le i9-14900K.</a:t>
            </a:r>
          </a:p>
        </p:txBody>
      </p:sp>
      <p:graphicFrame>
        <p:nvGraphicFramePr>
          <p:cNvPr id="9" name="Tableau 8">
            <a:extLst>
              <a:ext uri="{FF2B5EF4-FFF2-40B4-BE49-F238E27FC236}">
                <a16:creationId xmlns:a16="http://schemas.microsoft.com/office/drawing/2014/main" id="{AC57EC30-FDB9-CBA7-6C82-5AF7AE09D437}"/>
              </a:ext>
            </a:extLst>
          </p:cNvPr>
          <p:cNvGraphicFramePr>
            <a:graphicFrameLocks noGrp="1"/>
          </p:cNvGraphicFramePr>
          <p:nvPr>
            <p:extLst>
              <p:ext uri="{D42A27DB-BD31-4B8C-83A1-F6EECF244321}">
                <p14:modId xmlns:p14="http://schemas.microsoft.com/office/powerpoint/2010/main" val="3272429698"/>
              </p:ext>
            </p:extLst>
          </p:nvPr>
        </p:nvGraphicFramePr>
        <p:xfrm>
          <a:off x="609600" y="2641600"/>
          <a:ext cx="10972800" cy="219710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3069453712"/>
                    </a:ext>
                  </a:extLst>
                </a:gridCol>
                <a:gridCol w="4152900">
                  <a:extLst>
                    <a:ext uri="{9D8B030D-6E8A-4147-A177-3AD203B41FA5}">
                      <a16:colId xmlns:a16="http://schemas.microsoft.com/office/drawing/2014/main" val="2935099814"/>
                    </a:ext>
                  </a:extLst>
                </a:gridCol>
                <a:gridCol w="4216400">
                  <a:extLst>
                    <a:ext uri="{9D8B030D-6E8A-4147-A177-3AD203B41FA5}">
                      <a16:colId xmlns:a16="http://schemas.microsoft.com/office/drawing/2014/main" val="3105753037"/>
                    </a:ext>
                  </a:extLst>
                </a:gridCol>
              </a:tblGrid>
              <a:tr h="549275">
                <a:tc>
                  <a:txBody>
                    <a:bodyPr/>
                    <a:lstStyle/>
                    <a:p>
                      <a:pPr algn="l"/>
                      <a:r>
                        <a:rPr lang="fr-FR" sz="1900" b="1" dirty="0">
                          <a:solidFill>
                            <a:srgbClr val="FFFFFF"/>
                          </a:solidFill>
                          <a:latin typeface="Arial" panose="020B0604020202020204" pitchFamily="34" charset="0"/>
                        </a:rPr>
                        <a:t>Critère CPU</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PC de référence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AWS : c7i.12xlarge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492051101"/>
                  </a:ext>
                </a:extLst>
              </a:tr>
              <a:tr h="549275">
                <a:tc>
                  <a:txBody>
                    <a:bodyPr/>
                    <a:lstStyle/>
                    <a:p>
                      <a:pPr algn="l"/>
                      <a:r>
                        <a:rPr lang="fr-FR" sz="1900" b="0" dirty="0">
                          <a:solidFill>
                            <a:srgbClr val="172F43"/>
                          </a:solidFill>
                          <a:latin typeface="Arial" panose="020B0604020202020204" pitchFamily="34" charset="0"/>
                        </a:rPr>
                        <a:t>Processeur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Intel Core i9-14900K</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Intel Xeon Sapphire Rapids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5222961"/>
                  </a:ext>
                </a:extLst>
              </a:tr>
              <a:tr h="549275">
                <a:tc>
                  <a:txBody>
                    <a:bodyPr/>
                    <a:lstStyle/>
                    <a:p>
                      <a:pPr algn="l"/>
                      <a:r>
                        <a:rPr lang="fr-FR" sz="1900" b="0" dirty="0">
                          <a:solidFill>
                            <a:srgbClr val="172F43"/>
                          </a:solidFill>
                          <a:latin typeface="Arial" panose="020B0604020202020204" pitchFamily="34" charset="0"/>
                        </a:rPr>
                        <a:t>Cœurs physiques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24 : 8 Performance + 16 Efficient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24 cœurs Xeon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89079018"/>
                  </a:ext>
                </a:extLst>
              </a:tr>
              <a:tr h="549275">
                <a:tc>
                  <a:txBody>
                    <a:bodyPr/>
                    <a:lstStyle/>
                    <a:p>
                      <a:pPr algn="l"/>
                      <a:r>
                        <a:rPr lang="fr-FR" sz="1900" b="0" dirty="0">
                          <a:solidFill>
                            <a:srgbClr val="172F43"/>
                          </a:solidFill>
                          <a:latin typeface="Arial" panose="020B0604020202020204" pitchFamily="34" charset="0"/>
                        </a:rPr>
                        <a:t>Threads matériels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32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48 </a:t>
                      </a:r>
                      <a:r>
                        <a:rPr lang="fr-FR" sz="1900" b="0" dirty="0" err="1">
                          <a:solidFill>
                            <a:srgbClr val="172F43"/>
                          </a:solidFill>
                          <a:latin typeface="Arial" panose="020B0604020202020204" pitchFamily="34" charset="0"/>
                        </a:rPr>
                        <a:t>vCPU</a:t>
                      </a:r>
                      <a:r>
                        <a:rPr lang="fr-FR" sz="1900" b="0" dirty="0">
                          <a:solidFill>
                            <a:srgbClr val="172F43"/>
                          </a:solidFill>
                          <a:latin typeface="Arial" panose="020B0604020202020204" pitchFamily="34" charset="0"/>
                        </a:rPr>
                        <a:t> : 2 threads / cœur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414243946"/>
                  </a:ext>
                </a:extLst>
              </a:tr>
            </a:tbl>
          </a:graphicData>
        </a:graphic>
      </p:graphicFrame>
      <p:sp>
        <p:nvSpPr>
          <p:cNvPr id="11" name="ZoneTexte 10">
            <a:extLst>
              <a:ext uri="{FF2B5EF4-FFF2-40B4-BE49-F238E27FC236}">
                <a16:creationId xmlns:a16="http://schemas.microsoft.com/office/drawing/2014/main" id="{FF040D0C-AD07-9666-1048-E0B096E34B09}"/>
              </a:ext>
            </a:extLst>
          </p:cNvPr>
          <p:cNvSpPr txBox="1"/>
          <p:nvPr/>
        </p:nvSpPr>
        <p:spPr>
          <a:xfrm>
            <a:off x="609600" y="5079999"/>
            <a:ext cx="10972800" cy="6858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Même nombre de cœurs physiques, architectures différentes. L'équivalence de puissance reste à vérifier avec le même code.</a:t>
            </a:r>
          </a:p>
        </p:txBody>
      </p:sp>
      <p:sp>
        <p:nvSpPr>
          <p:cNvPr id="13" name="ZoneTexte 12">
            <a:extLst>
              <a:ext uri="{FF2B5EF4-FFF2-40B4-BE49-F238E27FC236}">
                <a16:creationId xmlns:a16="http://schemas.microsoft.com/office/drawing/2014/main" id="{BBF014DF-64DE-F07B-2F81-2E1BF4241B7F}"/>
              </a:ext>
            </a:extLst>
          </p:cNvPr>
          <p:cNvSpPr txBox="1"/>
          <p:nvPr/>
        </p:nvSpPr>
        <p:spPr>
          <a:xfrm>
            <a:off x="609600" y="5943599"/>
            <a:ext cx="10972800" cy="3810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Référence locale : 1 000 images en 7,4 s, soit ≈ 8,2 h pour 4 millions.</a:t>
            </a:r>
          </a:p>
        </p:txBody>
      </p:sp>
      <p:sp>
        <p:nvSpPr>
          <p:cNvPr id="14" name="ZoneTexte 13">
            <a:extLst>
              <a:ext uri="{FF2B5EF4-FFF2-40B4-BE49-F238E27FC236}">
                <a16:creationId xmlns:a16="http://schemas.microsoft.com/office/drawing/2014/main" id="{973243DF-B314-2671-CDFD-A4DB2D32ABC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AWS : 96 Gio de RAM. La taille CPU guide le choix de la VM. Sources : Intel et AWS, détails en notes.</a:t>
            </a: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BEEFFEC9-FE74-FA6E-E1F9-026BAB753250}"/>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10" name="Connecteur droit 9">
            <a:extLst>
              <a:ext uri="{FF2B5EF4-FFF2-40B4-BE49-F238E27FC236}">
                <a16:creationId xmlns:a16="http://schemas.microsoft.com/office/drawing/2014/main" id="{557BD1BB-BB06-0381-3035-4CCB48535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6F1A9C0-0695-679C-FE09-8EA6FA21F03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2" name="ZoneTexte 11">
            <a:extLst>
              <a:ext uri="{FF2B5EF4-FFF2-40B4-BE49-F238E27FC236}">
                <a16:creationId xmlns:a16="http://schemas.microsoft.com/office/drawing/2014/main" id="{30B2008C-2C21-EC09-6C73-3EAD65F5FF08}"/>
              </a:ext>
            </a:extLst>
          </p:cNvPr>
          <p:cNvSpPr txBox="1"/>
          <p:nvPr/>
        </p:nvSpPr>
        <p:spPr>
          <a:xfrm>
            <a:off x="609600" y="1714499"/>
            <a:ext cx="10972800" cy="7239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c7i.12xlarge allumée pendant 30 h, essais et entraînements inclus. 24 cœurs physiques, 48 </a:t>
            </a:r>
            <a:r>
              <a:rPr lang="fr-FR" sz="2100" dirty="0" err="1">
                <a:solidFill>
                  <a:srgbClr val="172F43"/>
                </a:solidFill>
                <a:latin typeface="Arial" panose="020B0604020202020204" pitchFamily="34" charset="0"/>
              </a:rPr>
              <a:t>vCPU</a:t>
            </a:r>
            <a:r>
              <a:rPr lang="fr-FR" sz="2100" dirty="0">
                <a:solidFill>
                  <a:srgbClr val="172F43"/>
                </a:solidFill>
                <a:latin typeface="Arial" panose="020B0604020202020204" pitchFamily="34" charset="0"/>
              </a:rPr>
              <a:t>, 96 Gio de RAM.</a:t>
            </a:r>
          </a:p>
        </p:txBody>
      </p:sp>
      <p:graphicFrame>
        <p:nvGraphicFramePr>
          <p:cNvPr id="13" name="Tableau 12">
            <a:extLst>
              <a:ext uri="{FF2B5EF4-FFF2-40B4-BE49-F238E27FC236}">
                <a16:creationId xmlns:a16="http://schemas.microsoft.com/office/drawing/2014/main" id="{A9627730-399B-4655-0B2D-D2D86BBFED54}"/>
              </a:ext>
            </a:extLst>
          </p:cNvPr>
          <p:cNvGraphicFramePr>
            <a:graphicFrameLocks noGrp="1"/>
          </p:cNvGraphicFramePr>
          <p:nvPr>
            <p:extLst>
              <p:ext uri="{D42A27DB-BD31-4B8C-83A1-F6EECF244321}">
                <p14:modId xmlns:p14="http://schemas.microsoft.com/office/powerpoint/2010/main" val="1843378682"/>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3898785520"/>
                    </a:ext>
                  </a:extLst>
                </a:gridCol>
                <a:gridCol w="2425700">
                  <a:extLst>
                    <a:ext uri="{9D8B030D-6E8A-4147-A177-3AD203B41FA5}">
                      <a16:colId xmlns:a16="http://schemas.microsoft.com/office/drawing/2014/main" val="1360428561"/>
                    </a:ext>
                  </a:extLst>
                </a:gridCol>
                <a:gridCol w="3632200">
                  <a:extLst>
                    <a:ext uri="{9D8B030D-6E8A-4147-A177-3AD203B41FA5}">
                      <a16:colId xmlns:a16="http://schemas.microsoft.com/office/drawing/2014/main" val="3809787200"/>
                    </a:ext>
                  </a:extLst>
                </a:gridCol>
                <a:gridCol w="1701800">
                  <a:extLst>
                    <a:ext uri="{9D8B030D-6E8A-4147-A177-3AD203B41FA5}">
                      <a16:colId xmlns:a16="http://schemas.microsoft.com/office/drawing/2014/main" val="3522483604"/>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01759694"/>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2,2798 €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68,39 €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2016869"/>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071689283"/>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58521116"/>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72,55 €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758379309"/>
                  </a:ext>
                </a:extLst>
              </a:tr>
            </a:tbl>
          </a:graphicData>
        </a:graphic>
      </p:graphicFrame>
      <p:sp>
        <p:nvSpPr>
          <p:cNvPr id="14" name="ZoneTexte 13">
            <a:extLst>
              <a:ext uri="{FF2B5EF4-FFF2-40B4-BE49-F238E27FC236}">
                <a16:creationId xmlns:a16="http://schemas.microsoft.com/office/drawing/2014/main" id="{FCAC8F33-AB7F-55E5-7167-D206CE300EB0}"/>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Estimation sous le budget IA de 300 €. Hors temps humain. Les essais et les entraînements sont inclus dans les 30 h de VM.</a:t>
            </a:r>
          </a:p>
        </p:txBody>
      </p:sp>
      <p:sp>
        <p:nvSpPr>
          <p:cNvPr id="15" name="ZoneTexte 14">
            <a:extLst>
              <a:ext uri="{FF2B5EF4-FFF2-40B4-BE49-F238E27FC236}">
                <a16:creationId xmlns:a16="http://schemas.microsoft.com/office/drawing/2014/main" id="{5585C3A7-CEF9-4EEE-9C96-9733AE357CD4}"/>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AWS Paris au 09/10/2026. Conversion BCE du 08/10/2026 :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BD307695-4965-518F-79AD-19D79D0AEA6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10" name="Connecteur droit 9">
            <a:extLst>
              <a:ext uri="{FF2B5EF4-FFF2-40B4-BE49-F238E27FC236}">
                <a16:creationId xmlns:a16="http://schemas.microsoft.com/office/drawing/2014/main" id="{DB9C2774-4600-2984-A57B-66162917F93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4A26DBF-3299-F97D-BC7F-64A4EB15E7D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2" name="ZoneTexte 11">
            <a:extLst>
              <a:ext uri="{FF2B5EF4-FFF2-40B4-BE49-F238E27FC236}">
                <a16:creationId xmlns:a16="http://schemas.microsoft.com/office/drawing/2014/main" id="{C24EB733-4B95-2CFB-FC5E-FB07943BC07B}"/>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Même c7i.12xlarge. Hypothèse : débit équivalent au i9, donc 8,2 h de VM au total ou 41 min par lot mensuel. À vérifier sur AWS.</a:t>
            </a:r>
          </a:p>
        </p:txBody>
      </p:sp>
      <p:graphicFrame>
        <p:nvGraphicFramePr>
          <p:cNvPr id="13" name="Tableau 12">
            <a:extLst>
              <a:ext uri="{FF2B5EF4-FFF2-40B4-BE49-F238E27FC236}">
                <a16:creationId xmlns:a16="http://schemas.microsoft.com/office/drawing/2014/main" id="{B2DAEFB9-D100-8BD0-F138-096BA6130B5B}"/>
              </a:ext>
            </a:extLst>
          </p:cNvPr>
          <p:cNvGraphicFramePr>
            <a:graphicFrameLocks noGrp="1"/>
          </p:cNvGraphicFramePr>
          <p:nvPr>
            <p:extLst>
              <p:ext uri="{D42A27DB-BD31-4B8C-83A1-F6EECF244321}">
                <p14:modId xmlns:p14="http://schemas.microsoft.com/office/powerpoint/2010/main" val="1539464426"/>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1380193833"/>
                    </a:ext>
                  </a:extLst>
                </a:gridCol>
                <a:gridCol w="2819400">
                  <a:extLst>
                    <a:ext uri="{9D8B030D-6E8A-4147-A177-3AD203B41FA5}">
                      <a16:colId xmlns:a16="http://schemas.microsoft.com/office/drawing/2014/main" val="2024100965"/>
                    </a:ext>
                  </a:extLst>
                </a:gridCol>
                <a:gridCol w="3098800">
                  <a:extLst>
                    <a:ext uri="{9D8B030D-6E8A-4147-A177-3AD203B41FA5}">
                      <a16:colId xmlns:a16="http://schemas.microsoft.com/office/drawing/2014/main" val="193667623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98655437"/>
                  </a:ext>
                </a:extLst>
              </a:tr>
              <a:tr h="596900">
                <a:tc>
                  <a:txBody>
                    <a:bodyPr/>
                    <a:lstStyle/>
                    <a:p>
                      <a:pPr algn="l"/>
                      <a:r>
                        <a:rPr lang="fr-FR" sz="1700" b="0" dirty="0">
                          <a:solidFill>
                            <a:srgbClr val="172F43"/>
                          </a:solidFill>
                          <a:latin typeface="Arial" panose="020B0604020202020204" pitchFamily="34" charset="0"/>
                        </a:rPr>
                        <a:t>Machine : 2,2798 €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18,69 €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18,69 €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20979229"/>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98269122"/>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02498009"/>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167945096"/>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67,03 €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101,78 €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3950633"/>
                  </a:ext>
                </a:extLst>
              </a:tr>
            </a:tbl>
          </a:graphicData>
        </a:graphic>
      </p:graphicFrame>
      <p:sp>
        <p:nvSpPr>
          <p:cNvPr id="14" name="ZoneTexte 13">
            <a:extLst>
              <a:ext uri="{FF2B5EF4-FFF2-40B4-BE49-F238E27FC236}">
                <a16:creationId xmlns:a16="http://schemas.microsoft.com/office/drawing/2014/main" id="{5783DE76-EF2F-33E2-6F73-44F26F7AB99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Stockage : 0,16 à 1,98 € / mois en année 1. Ensuite : total cloud de 112,66 € / an.
VM arrêtée entre les lots ; disque supprimé après le lot unique.</a:t>
            </a:r>
          </a:p>
        </p:txBody>
      </p:sp>
      <p:sp>
        <p:nvSpPr>
          <p:cNvPr id="15" name="ZoneTexte 14">
            <a:extLst>
              <a:ext uri="{FF2B5EF4-FFF2-40B4-BE49-F238E27FC236}">
                <a16:creationId xmlns:a16="http://schemas.microsoft.com/office/drawing/2014/main" id="{C0F78821-0F33-3F2F-0C53-854B66F7573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Sous 5 000 € dans ce scénario. Infrastructure seule, hors prototype, taxes et contrôle humain. Une copie des images.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96DFB8DD-67C2-0169-88AA-D8039C2D89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et limites du passage à l'échelle</a:t>
            </a:r>
          </a:p>
        </p:txBody>
      </p:sp>
      <p:cxnSp>
        <p:nvCxnSpPr>
          <p:cNvPr id="9" name="Connecteur droit 8">
            <a:extLst>
              <a:ext uri="{FF2B5EF4-FFF2-40B4-BE49-F238E27FC236}">
                <a16:creationId xmlns:a16="http://schemas.microsoft.com/office/drawing/2014/main" id="{04BF0914-1884-1FB1-F113-4403C5DBBB7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ACE59434-A160-F58F-45DF-644CD6A6998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11" name="ZoneTexte 10">
            <a:extLst>
              <a:ext uri="{FF2B5EF4-FFF2-40B4-BE49-F238E27FC236}">
                <a16:creationId xmlns:a16="http://schemas.microsoft.com/office/drawing/2014/main" id="{A9D63ADF-A113-6A25-46C3-798FB4558C78}"/>
              </a:ext>
            </a:extLst>
          </p:cNvPr>
          <p:cNvSpPr txBox="1"/>
          <p:nvPr/>
        </p:nvSpPr>
        <p:spPr>
          <a:xfrm>
            <a:off x="609600" y="1701799"/>
            <a:ext cx="10972800" cy="6350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Condition du devis : la c7i.12xlarge doit retrouver le débit du i9 avec le même traitement. Les 8,2 h restent une hypothèse.</a:t>
            </a:r>
          </a:p>
        </p:txBody>
      </p:sp>
      <p:graphicFrame>
        <p:nvGraphicFramePr>
          <p:cNvPr id="12" name="Tableau 11">
            <a:extLst>
              <a:ext uri="{FF2B5EF4-FFF2-40B4-BE49-F238E27FC236}">
                <a16:creationId xmlns:a16="http://schemas.microsoft.com/office/drawing/2014/main" id="{C1610417-7D05-DFC6-4209-2AAB6B49F580}"/>
              </a:ext>
            </a:extLst>
          </p:cNvPr>
          <p:cNvGraphicFramePr>
            <a:graphicFrameLocks noGrp="1"/>
          </p:cNvGraphicFramePr>
          <p:nvPr>
            <p:extLst>
              <p:ext uri="{D42A27DB-BD31-4B8C-83A1-F6EECF244321}">
                <p14:modId xmlns:p14="http://schemas.microsoft.com/office/powerpoint/2010/main" val="3046267881"/>
              </p:ext>
            </p:extLst>
          </p:nvPr>
        </p:nvGraphicFramePr>
        <p:xfrm>
          <a:off x="609600" y="2463800"/>
          <a:ext cx="10972800" cy="36830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846663145"/>
                    </a:ext>
                  </a:extLst>
                </a:gridCol>
                <a:gridCol w="3835400">
                  <a:extLst>
                    <a:ext uri="{9D8B030D-6E8A-4147-A177-3AD203B41FA5}">
                      <a16:colId xmlns:a16="http://schemas.microsoft.com/office/drawing/2014/main" val="1302447233"/>
                    </a:ext>
                  </a:extLst>
                </a:gridCol>
                <a:gridCol w="5181600">
                  <a:extLst>
                    <a:ext uri="{9D8B030D-6E8A-4147-A177-3AD203B41FA5}">
                      <a16:colId xmlns:a16="http://schemas.microsoft.com/office/drawing/2014/main" val="143657806"/>
                    </a:ext>
                  </a:extLst>
                </a:gridCol>
              </a:tblGrid>
              <a:tr h="613833">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4251311186"/>
                  </a:ext>
                </a:extLst>
              </a:tr>
              <a:tr h="613833">
                <a:tc>
                  <a:txBody>
                    <a:bodyPr/>
                    <a:lstStyle/>
                    <a:p>
                      <a:pPr algn="l"/>
                      <a:r>
                        <a:rPr lang="fr-FR" sz="1700" b="0" dirty="0">
                          <a:solidFill>
                            <a:srgbClr val="172F43"/>
                          </a:solidFill>
                          <a:latin typeface="Arial" panose="020B0604020202020204" pitchFamily="34" charset="0"/>
                        </a:rPr>
                        <a:t>Puissance CPU</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24 cœurs physiques de chaque côté, mais des architectures différentes.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Comparer le même code sur 1 000 images : référence i9 de 7,4 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377433165"/>
                  </a:ext>
                </a:extLst>
              </a:tr>
              <a:tr h="613833">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Processus Python : environ 3,2 Gio. VM retenue : 96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Lire par lots : 4 M tenseurs en mémoire occuperaient ≈ 2,2 Tio.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580912915"/>
                  </a:ext>
                </a:extLst>
              </a:tr>
              <a:tr h="613833">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4 M petits fichiers, décodage et accès S3 peuvent limiter le débit.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la chaîne complète, avec égalisation et lots de 16. Tester le préchargement.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76656136"/>
                  </a:ext>
                </a:extLst>
              </a:tr>
              <a:tr h="613833">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JPEG de 24,75 ko / image, soit ≈ 99 Go dans ce devis.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Recalculer volume et durée pour des PNG plus lourds. Conservation : 12 mois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59306029"/>
                  </a:ext>
                </a:extLst>
              </a:tr>
              <a:tr h="613833">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Seulement 20 images connues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Vérifier les prédictions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447824290"/>
                  </a:ext>
                </a:extLst>
              </a:tr>
            </a:tbl>
          </a:graphicData>
        </a:graphic>
      </p:graphicFrame>
      <p:sp>
        <p:nvSpPr>
          <p:cNvPr id="13" name="ZoneTexte 12">
            <a:extLst>
              <a:ext uri="{FF2B5EF4-FFF2-40B4-BE49-F238E27FC236}">
                <a16:creationId xmlns:a16="http://schemas.microsoft.com/office/drawing/2014/main" id="{B9F3C7C3-00B2-BB75-ED00-DB22BA7AB5BF}"/>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VM arrêtée entre lots : allumée 24 h/24 pendant un an, le calcul seul coûterait ≈ 19 971 € HT.</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5900</Words>
  <Application>Microsoft Office PowerPoint</Application>
  <PresentationFormat>Grand écran</PresentationFormat>
  <Paragraphs>323</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18</cp:revision>
  <dcterms:created xsi:type="dcterms:W3CDTF">2026-10-09T08:40:36Z</dcterms:created>
  <dcterms:modified xsi:type="dcterms:W3CDTF">2026-10-09T14:24:09Z</dcterms:modified>
</cp:coreProperties>
</file>