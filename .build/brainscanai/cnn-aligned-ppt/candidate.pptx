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10/10/2026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hyperparametres-semi-recherche et hyperparametres-supervise-recherche, sorties enregistrées après alignement des cibles faibles et fortes. Phase faible : 5 et 10 époques donnent une accuracy de validation de 1,0000 par rapport aux groupes K-Means alignés. À égalité, le code retient 5 époques. F2 semi-supervisé : 0,4054 / 0,5263 / 0,5263 / 0,8537. F2 supervisé : 0,5000 / 0,6250 / 0,6579 / 0,9756. Les deux modèles retiennent un taux de 0,001 et 10 époques fortes. Le meilleur F2 de validation diffère entre modèles. Les 20 images du test final restent exclues de la sélection.</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ba2b3b8a, b184ba1a, 82faeff6 et 9dfb6484. La correspondance entre les groupes K-Means et les cibles du CNN est déterminée uniquement sur les 63 images fortes d'entraînement. Dans cette exécution, groupe 0 vers cible 1 (cancer), groupe 1 vers cible 0 (normal). Les numéros originaux restent dans label_faible. Les cibles du CNN sont alignées dans les phases faible et forte. Les labels faibles restent approximatifs. La validation faible applique la même correspondance. Après 5 époques faibles, accuracy de 0,973 sur les 263 images du test faible : accord avec les cibles dérivées de K-Means, et non évaluation médicale. Puis le même CNN poursuit son entraînement pendant 10 époques sur les 63 labels forts. Le supervisé apprend uniquement sur ces 63 images, pendant 10 époques. Taux de 0,001 pour les trois phases finales.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ee07cebf et cnn-comparaison-train-test, sorties enregistrées après alignement des labels. Test fort : 20 images, 10 normales et 10 cancéreuses. Les deux modèles affichent accuracy, F1, précision, rappel et F2 cancer égaux à 0,900. Matrice de confusion pour chacun : [[9,1],[1,9]], lignes = classes réelles, colonnes = classes prédites. Un faux positif et un faux négatif par modèle. L'égalité concerne les métriques et les effectifs des matrices sur ce petit test, sans prouver que les modèles ou leurs prédictions individuelles sont identiques. Aucun gain mesuré du semi-supervisé sur ce test. Train fort, 63 images : F2 semi de 0,969 et supervisé de 0,943. Écarts de F2 train moins test : +6,9 et +4,3 points. Ces écarts suggèrent un possible surapprentissage, à interpréter avec prudence sur 20 images de test.</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10/10/2026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standardise et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Puis </a:t>
            </a:r>
            <a:r>
              <a:rPr lang="fr-FR" sz="1900" dirty="0" err="1">
                <a:solidFill>
                  <a:srgbClr val="172F43"/>
                </a:solidFill>
                <a:latin typeface="Arial" panose="020B0604020202020204" pitchFamily="34" charset="0"/>
              </a:rPr>
              <a:t>pca.transform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1712114434"/>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0,4054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0,5263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0,5263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0,8537</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739508932"/>
              </p:ext>
            </p:extLst>
          </p:nvPr>
        </p:nvGraphicFramePr>
        <p:xfrm>
          <a:off x="714637" y="2505412"/>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
        <p:nvSpPr>
          <p:cNvPr id="12" name="ZoneTexte 11">
            <a:extLst>
              <a:ext uri="{FF2B5EF4-FFF2-40B4-BE49-F238E27FC236}">
                <a16:creationId xmlns:a16="http://schemas.microsoft.com/office/drawing/2014/main" id="{547B81FC-2D4D-002B-33A8-98ACC55FDD37}"/>
              </a:ext>
            </a:extLst>
          </p:cNvPr>
          <p:cNvSpPr txBox="1"/>
          <p:nvPr/>
        </p:nvSpPr>
        <p:spPr>
          <a:xfrm>
            <a:off x="4784871" y="2624950"/>
            <a:ext cx="2047962" cy="646331"/>
          </a:xfrm>
          <a:prstGeom prst="rect">
            <a:avLst/>
          </a:prstGeom>
          <a:noFill/>
        </p:spPr>
        <p:txBody>
          <a:bodyPr wrap="square">
            <a:spAutoFit/>
          </a:bodyPr>
          <a:lstStyle/>
          <a:p>
            <a:r>
              <a:rPr lang="fr-FR" sz="1200" dirty="0">
                <a:latin typeface="Arial" panose="020B0604020202020204" pitchFamily="34" charset="0"/>
                <a:cs typeface="Arial" panose="020B0604020202020204" pitchFamily="34" charset="0"/>
              </a:rPr>
              <a:t>l’</a:t>
            </a:r>
            <a:r>
              <a:rPr lang="fr-FR" sz="1200" dirty="0" err="1">
                <a:latin typeface="Arial" panose="020B0604020202020204" pitchFamily="34" charset="0"/>
                <a:cs typeface="Arial" panose="020B0604020202020204" pitchFamily="34" charset="0"/>
              </a:rPr>
              <a:t>accuracy</a:t>
            </a:r>
            <a:r>
              <a:rPr lang="fr-FR" sz="1200" dirty="0">
                <a:latin typeface="Arial" panose="020B0604020202020204" pitchFamily="34" charset="0"/>
                <a:cs typeface="Arial" panose="020B0604020202020204" pitchFamily="34" charset="0"/>
              </a:rPr>
              <a:t> ici mesure l’accord avec les </a:t>
            </a:r>
            <a:r>
              <a:rPr lang="fr-FR" sz="1200" b="1" dirty="0">
                <a:latin typeface="Arial" panose="020B0604020202020204" pitchFamily="34" charset="0"/>
                <a:cs typeface="Arial" panose="020B0604020202020204" pitchFamily="34" charset="0"/>
              </a:rPr>
              <a:t>groupes K-Means</a:t>
            </a:r>
            <a:endParaRPr lang="fr-FR"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 0 = normal et 1 = cancer.</a:t>
            </a:r>
          </a:p>
          <a:p>
            <a:r>
              <a:rPr lang="fr-FR" sz="1700">
                <a:solidFill>
                  <a:srgbClr val="172F43"/>
                </a:solidFill>
                <a:latin typeface="Arial" panose="020B0604020202020204" pitchFamily="34" charset="0"/>
              </a:rPr>
              <a:t>Test faible : accuracy de 0,973 sur 263 images (accord avec K-Means).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121952496"/>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07440556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a:solidFill>
                  <a:srgbClr val="007F82"/>
                </a:solidFill>
                <a:latin typeface="Arial" panose="020B0604020202020204" pitchFamily="34" charset="0"/>
              </a:rPr>
              <a:t>1 faux négatif</a:t>
            </a:r>
            <a:endParaRPr lang="fr-FR" b="1" dirty="0">
              <a:solidFill>
                <a:srgbClr val="007F82"/>
              </a:solidFill>
              <a:latin typeface="Arial" panose="020B0604020202020204" pitchFamily="34" charset="0"/>
            </a:endParaRP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a:solidFill>
                  <a:srgbClr val="172F43"/>
                </a:solidFill>
                <a:latin typeface="Arial" panose="020B0604020202020204" pitchFamily="34" charset="0"/>
              </a:rPr>
              <a:t>Les deux CNN obtiennent les mêmes performances sur ce test.</a:t>
            </a:r>
          </a:p>
          <a:p>
            <a:r>
              <a:rPr lang="fr-FR" b="1">
                <a:solidFill>
                  <a:srgbClr val="172F43"/>
                </a:solidFill>
                <a:latin typeface="Arial" panose="020B0604020202020204" pitchFamily="34" charset="0"/>
              </a:rPr>
              <a:t>La phase faible n'apporte pas d'amélioration mesurée.</a:t>
            </a:r>
            <a:endParaRPr lang="fr-FR" b="1" dirty="0">
              <a:solidFill>
                <a:srgbClr val="172F43"/>
              </a:solidFill>
              <a:latin typeface="Arial" panose="020B0604020202020204" pitchFamily="34" charset="0"/>
            </a:endParaRP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a:solidFill>
                  <a:srgbClr val="536473"/>
                </a:solidFill>
                <a:latin typeface="Arial" panose="020B0604020202020204" pitchFamily="34" charset="0"/>
              </a:rPr>
              <a:t>Écart de F2 train/test : +6,9 points (semi-supervisé), +4,3 points (supervisé).</a:t>
            </a:r>
            <a:endParaRPr lang="fr-FR" dirty="0">
              <a:solidFill>
                <a:srgbClr val="536473"/>
              </a:solidFill>
              <a:latin typeface="Arial" panose="020B0604020202020204" pitchFamily="34" charset="0"/>
            </a:endParaRP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Machine AWS et besoins en RAM</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609600" y="1841499"/>
            <a:ext cx="51435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609600" y="2476499"/>
            <a:ext cx="5143500" cy="1041400"/>
          </a:xfrm>
          <a:prstGeom prst="rect">
            <a:avLst/>
          </a:prstGeom>
          <a:noFill/>
        </p:spPr>
        <p:txBody>
          <a:bodyPr vert="horz" wrap="square" lIns="0" tIns="0" rIns="0" bIns="0" rtlCol="0">
            <a:noAutofit/>
          </a:bodyPr>
          <a:lstStyle/>
          <a:p>
            <a:r>
              <a:rPr lang="fr-FR" sz="28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603250" y="344804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426200" y="1841499"/>
            <a:ext cx="51562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426200" y="2476499"/>
            <a:ext cx="5156200" cy="1041400"/>
          </a:xfrm>
          <a:prstGeom prst="rect">
            <a:avLst/>
          </a:prstGeom>
          <a:noFill/>
        </p:spPr>
        <p:txBody>
          <a:bodyPr vert="horz" wrap="square" lIns="0" tIns="0" rIns="0" bIns="0" rtlCol="0">
            <a:noAutofit/>
          </a:bodyPr>
          <a:lstStyle/>
          <a:p>
            <a:r>
              <a:rPr lang="fr-FR" sz="2700" b="1" dirty="0">
                <a:solidFill>
                  <a:srgbClr val="172F43"/>
                </a:solidFill>
                <a:latin typeface="Arial" panose="020B0604020202020204" pitchFamily="34" charset="0"/>
              </a:rPr>
              <a:t>c7i.12xlarge, Paris
24 cœurs physiques, 48 </a:t>
            </a:r>
            <a:r>
              <a:rPr lang="fr-FR" sz="2700" b="1" dirty="0" err="1">
                <a:solidFill>
                  <a:srgbClr val="172F43"/>
                </a:solidFill>
                <a:latin typeface="Arial" panose="020B0604020202020204" pitchFamily="34" charset="0"/>
              </a:rPr>
              <a:t>vCPU</a:t>
            </a:r>
            <a:endParaRPr lang="fr-FR" sz="27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419850" y="344804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56894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
        <p:nvSpPr>
          <p:cNvPr id="5" name="ZoneTexte 4">
            <a:extLst>
              <a:ext uri="{FF2B5EF4-FFF2-40B4-BE49-F238E27FC236}">
                <a16:creationId xmlns:a16="http://schemas.microsoft.com/office/drawing/2014/main" id="{73F11DF7-2416-708F-60E7-0A06BA32DAAC}"/>
              </a:ext>
            </a:extLst>
          </p:cNvPr>
          <p:cNvSpPr txBox="1"/>
          <p:nvPr/>
        </p:nvSpPr>
        <p:spPr>
          <a:xfrm>
            <a:off x="596900" y="4203117"/>
            <a:ext cx="5143500" cy="787400"/>
          </a:xfrm>
          <a:prstGeom prst="rect">
            <a:avLst/>
          </a:prstGeom>
          <a:noFill/>
        </p:spPr>
        <p:txBody>
          <a:bodyPr vert="horz" wrap="square" lIns="0" tIns="0" rIns="0" bIns="0" rtlCol="0">
            <a:noAutofit/>
          </a:bodyPr>
          <a:lstStyle/>
          <a:p>
            <a:r>
              <a:rPr lang="fr-FR" dirty="0"/>
              <a:t>Estimation réalisée sur la base de ce test:</a:t>
            </a:r>
          </a:p>
          <a:p>
            <a:r>
              <a:rPr lang="fr-FR" dirty="0"/>
              <a:t>Nombre d'images traitées : 1000 </a:t>
            </a:r>
          </a:p>
          <a:p>
            <a:r>
              <a:rPr lang="fr-FR" dirty="0"/>
              <a:t>Durée mesurée : 8.1 secondes </a:t>
            </a:r>
          </a:p>
          <a:p>
            <a:r>
              <a:rPr lang="fr-FR" dirty="0"/>
              <a:t>Estimation pour 4 millions : 9.0 heures</a:t>
            </a:r>
            <a:endParaRPr lang="fr-FR" sz="2200" dirty="0">
              <a:solidFill>
                <a:srgbClr val="172F43"/>
              </a:solidFill>
              <a:latin typeface="Arial" panose="020B0604020202020204" pitchFamily="34" charset="0"/>
            </a:endParaRP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94A18E73-2BA2-DFCB-C591-A8E91421C420}"/>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du prototype</a:t>
            </a:r>
          </a:p>
        </p:txBody>
      </p:sp>
      <p:cxnSp>
        <p:nvCxnSpPr>
          <p:cNvPr id="10" name="Connecteur droit 9">
            <a:extLst>
              <a:ext uri="{FF2B5EF4-FFF2-40B4-BE49-F238E27FC236}">
                <a16:creationId xmlns:a16="http://schemas.microsoft.com/office/drawing/2014/main" id="{6C0589B6-FF8D-4B3C-0AC9-B861D5C65B7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FEC23F20-7ECF-FAF5-341B-3FDA8D0C7FB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2" name="ZoneTexte 11">
            <a:extLst>
              <a:ext uri="{FF2B5EF4-FFF2-40B4-BE49-F238E27FC236}">
                <a16:creationId xmlns:a16="http://schemas.microsoft.com/office/drawing/2014/main" id="{43B8F8BC-A9C8-6A35-0E33-74B606A866FD}"/>
              </a:ext>
            </a:extLst>
          </p:cNvPr>
          <p:cNvSpPr txBox="1"/>
          <p:nvPr/>
        </p:nvSpPr>
        <p:spPr>
          <a:xfrm>
            <a:off x="609600" y="1841499"/>
            <a:ext cx="10972800" cy="5080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30 heures de VM, essais et entraînements inclus</a:t>
            </a:r>
          </a:p>
        </p:txBody>
      </p:sp>
      <p:sp>
        <p:nvSpPr>
          <p:cNvPr id="13" name="ZoneTexte 12">
            <a:extLst>
              <a:ext uri="{FF2B5EF4-FFF2-40B4-BE49-F238E27FC236}">
                <a16:creationId xmlns:a16="http://schemas.microsoft.com/office/drawing/2014/main" id="{13B6A6DE-146F-C461-6200-D37D1A69CC60}"/>
              </a:ext>
            </a:extLst>
          </p:cNvPr>
          <p:cNvSpPr txBox="1"/>
          <p:nvPr/>
        </p:nvSpPr>
        <p:spPr>
          <a:xfrm>
            <a:off x="609600" y="2730499"/>
            <a:ext cx="4762500" cy="825500"/>
          </a:xfrm>
          <a:prstGeom prst="rect">
            <a:avLst/>
          </a:prstGeom>
          <a:noFill/>
        </p:spPr>
        <p:txBody>
          <a:bodyPr vert="horz" wrap="square" lIns="0" tIns="0" rIns="0" bIns="0" rtlCol="0">
            <a:noAutofit/>
          </a:bodyPr>
          <a:lstStyle/>
          <a:p>
            <a:r>
              <a:rPr lang="fr-FR" sz="4300" b="1" dirty="0">
                <a:solidFill>
                  <a:srgbClr val="007F82"/>
                </a:solidFill>
                <a:latin typeface="Arial" panose="020B0604020202020204" pitchFamily="34" charset="0"/>
              </a:rPr>
              <a:t>72,55 € HT</a:t>
            </a:r>
          </a:p>
        </p:txBody>
      </p:sp>
      <p:sp>
        <p:nvSpPr>
          <p:cNvPr id="14" name="ZoneTexte 13">
            <a:extLst>
              <a:ext uri="{FF2B5EF4-FFF2-40B4-BE49-F238E27FC236}">
                <a16:creationId xmlns:a16="http://schemas.microsoft.com/office/drawing/2014/main" id="{CAC98958-AA35-5985-AFD9-90BA1ADE4CEA}"/>
              </a:ext>
            </a:extLst>
          </p:cNvPr>
          <p:cNvSpPr txBox="1"/>
          <p:nvPr/>
        </p:nvSpPr>
        <p:spPr>
          <a:xfrm>
            <a:off x="609600" y="3809999"/>
            <a:ext cx="4762500" cy="4445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Une seule fois</a:t>
            </a:r>
          </a:p>
        </p:txBody>
      </p:sp>
      <p:sp>
        <p:nvSpPr>
          <p:cNvPr id="15" name="ZoneTexte 14">
            <a:extLst>
              <a:ext uri="{FF2B5EF4-FFF2-40B4-BE49-F238E27FC236}">
                <a16:creationId xmlns:a16="http://schemas.microsoft.com/office/drawing/2014/main" id="{D57A349E-B48F-06C4-DE8E-3060353C2CC4}"/>
              </a:ext>
            </a:extLst>
          </p:cNvPr>
          <p:cNvSpPr txBox="1"/>
          <p:nvPr/>
        </p:nvSpPr>
        <p:spPr>
          <a:xfrm>
            <a:off x="6096000" y="2641599"/>
            <a:ext cx="54864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 IPv4</a:t>
            </a:r>
          </a:p>
        </p:txBody>
      </p:sp>
      <p:sp>
        <p:nvSpPr>
          <p:cNvPr id="20" name="ZoneTexte 19">
            <a:extLst>
              <a:ext uri="{FF2B5EF4-FFF2-40B4-BE49-F238E27FC236}">
                <a16:creationId xmlns:a16="http://schemas.microsoft.com/office/drawing/2014/main" id="{03D05768-75DD-380A-8F1C-DE7BEA34B8D8}"/>
              </a:ext>
            </a:extLst>
          </p:cNvPr>
          <p:cNvSpPr txBox="1"/>
          <p:nvPr/>
        </p:nvSpPr>
        <p:spPr>
          <a:xfrm>
            <a:off x="6096000" y="3200399"/>
            <a:ext cx="5486400" cy="4318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30 h × 2,2798 €/h = 68,39 €</a:t>
            </a:r>
          </a:p>
        </p:txBody>
      </p:sp>
      <p:sp>
        <p:nvSpPr>
          <p:cNvPr id="21" name="ZoneTexte 20">
            <a:extLst>
              <a:ext uri="{FF2B5EF4-FFF2-40B4-BE49-F238E27FC236}">
                <a16:creationId xmlns:a16="http://schemas.microsoft.com/office/drawing/2014/main" id="{DB3C4569-8935-AF2D-24C0-3701E849B5E4}"/>
              </a:ext>
            </a:extLst>
          </p:cNvPr>
          <p:cNvSpPr txBox="1"/>
          <p:nvPr/>
        </p:nvSpPr>
        <p:spPr>
          <a:xfrm>
            <a:off x="6096000" y="38226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Disque : 1 mois × 4,148 € = 4,15 €</a:t>
            </a:r>
          </a:p>
        </p:txBody>
      </p:sp>
      <p:sp>
        <p:nvSpPr>
          <p:cNvPr id="22" name="ZoneTexte 21">
            <a:extLst>
              <a:ext uri="{FF2B5EF4-FFF2-40B4-BE49-F238E27FC236}">
                <a16:creationId xmlns:a16="http://schemas.microsoft.com/office/drawing/2014/main" id="{9F7D7C49-40DF-638C-0CED-7AA2165C0EB3}"/>
              </a:ext>
            </a:extLst>
          </p:cNvPr>
          <p:cNvSpPr txBox="1"/>
          <p:nvPr/>
        </p:nvSpPr>
        <p:spPr>
          <a:xfrm>
            <a:off x="6096000" y="44195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Images et accès : 0,01 €</a:t>
            </a:r>
          </a:p>
        </p:txBody>
      </p:sp>
      <p:sp>
        <p:nvSpPr>
          <p:cNvPr id="23" name="ZoneTexte 22">
            <a:extLst>
              <a:ext uri="{FF2B5EF4-FFF2-40B4-BE49-F238E27FC236}">
                <a16:creationId xmlns:a16="http://schemas.microsoft.com/office/drawing/2014/main" id="{548BF95A-E52E-E1F5-BEF6-9B1767C885D3}"/>
              </a:ext>
            </a:extLst>
          </p:cNvPr>
          <p:cNvSpPr txBox="1"/>
          <p:nvPr/>
        </p:nvSpPr>
        <p:spPr>
          <a:xfrm>
            <a:off x="609600" y="5168899"/>
            <a:ext cx="10972800" cy="4826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68,39 € + 4,15 € + 0,01 € = 72,55 €</a:t>
            </a:r>
          </a:p>
        </p:txBody>
      </p:sp>
      <p:sp>
        <p:nvSpPr>
          <p:cNvPr id="24" name="ZoneTexte 23">
            <a:extLst>
              <a:ext uri="{FF2B5EF4-FFF2-40B4-BE49-F238E27FC236}">
                <a16:creationId xmlns:a16="http://schemas.microsoft.com/office/drawing/2014/main" id="{6485F875-CA81-80DE-F940-961564AD000B}"/>
              </a:ext>
            </a:extLst>
          </p:cNvPr>
          <p:cNvSpPr txBox="1"/>
          <p:nvPr/>
        </p:nvSpPr>
        <p:spPr>
          <a:xfrm>
            <a:off x="609600" y="5880099"/>
            <a:ext cx="1097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Paris, prix HT du 09/10/2026. Conversion : 1 € = 1,1186 $. Main d’œuvre exclu.</a:t>
            </a:r>
          </a:p>
        </p:txBody>
      </p:sp>
      <p:sp>
        <p:nvSpPr>
          <p:cNvPr id="25" name="ZoneTexte 24">
            <a:hlinkClick r:id="rId3"/>
            <a:extLst>
              <a:ext uri="{FF2B5EF4-FFF2-40B4-BE49-F238E27FC236}">
                <a16:creationId xmlns:a16="http://schemas.microsoft.com/office/drawing/2014/main" id="{1D478994-FD7F-7865-33B0-6C49C4982AD5}"/>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1AC44AFA-1A50-016A-C2C6-557C982BEF2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pour 4 millions d'images</a:t>
            </a:r>
          </a:p>
        </p:txBody>
      </p:sp>
      <p:cxnSp>
        <p:nvCxnSpPr>
          <p:cNvPr id="10" name="Connecteur droit 9">
            <a:extLst>
              <a:ext uri="{FF2B5EF4-FFF2-40B4-BE49-F238E27FC236}">
                <a16:creationId xmlns:a16="http://schemas.microsoft.com/office/drawing/2014/main" id="{F8C0D8D8-76C2-1F00-88DA-A6BE6278778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4DCF29F5-84D5-3EAD-3767-2D419BE4D6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2" name="ZoneTexte 11">
            <a:extLst>
              <a:ext uri="{FF2B5EF4-FFF2-40B4-BE49-F238E27FC236}">
                <a16:creationId xmlns:a16="http://schemas.microsoft.com/office/drawing/2014/main" id="{BEB3C468-4FD6-858B-8D90-7A1F395420F4}"/>
              </a:ext>
            </a:extLst>
          </p:cNvPr>
          <p:cNvSpPr txBox="1"/>
          <p:nvPr/>
        </p:nvSpPr>
        <p:spPr>
          <a:xfrm>
            <a:off x="609600" y="1790699"/>
            <a:ext cx="10972800" cy="406400"/>
          </a:xfrm>
          <a:prstGeom prst="rect">
            <a:avLst/>
          </a:prstGeom>
          <a:noFill/>
        </p:spPr>
        <p:txBody>
          <a:bodyPr vert="horz" wrap="square" lIns="0" tIns="0" rIns="0" bIns="0" rtlCol="0">
            <a:noAutofit/>
          </a:bodyPr>
          <a:lstStyle/>
          <a:p>
            <a:endParaRPr lang="fr-FR" sz="2200" dirty="0">
              <a:solidFill>
                <a:srgbClr val="172F43"/>
              </a:solidFill>
              <a:latin typeface="Arial" panose="020B0604020202020204" pitchFamily="34" charset="0"/>
            </a:endParaRPr>
          </a:p>
        </p:txBody>
      </p:sp>
      <p:sp>
        <p:nvSpPr>
          <p:cNvPr id="13" name="ZoneTexte 12">
            <a:extLst>
              <a:ext uri="{FF2B5EF4-FFF2-40B4-BE49-F238E27FC236}">
                <a16:creationId xmlns:a16="http://schemas.microsoft.com/office/drawing/2014/main" id="{811F893A-AEE1-630D-0E51-844DFDCF38EC}"/>
              </a:ext>
            </a:extLst>
          </p:cNvPr>
          <p:cNvSpPr txBox="1"/>
          <p:nvPr/>
        </p:nvSpPr>
        <p:spPr>
          <a:xfrm>
            <a:off x="609600" y="2374899"/>
            <a:ext cx="52705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En une fois</a:t>
            </a:r>
          </a:p>
        </p:txBody>
      </p:sp>
      <p:sp>
        <p:nvSpPr>
          <p:cNvPr id="14" name="ZoneTexte 13">
            <a:extLst>
              <a:ext uri="{FF2B5EF4-FFF2-40B4-BE49-F238E27FC236}">
                <a16:creationId xmlns:a16="http://schemas.microsoft.com/office/drawing/2014/main" id="{DBB2697E-80C5-9489-4E7E-7FAF14A64F95}"/>
              </a:ext>
            </a:extLst>
          </p:cNvPr>
          <p:cNvSpPr txBox="1"/>
          <p:nvPr/>
        </p:nvSpPr>
        <p:spPr>
          <a:xfrm>
            <a:off x="609600" y="2920999"/>
            <a:ext cx="5270500" cy="673100"/>
          </a:xfrm>
          <a:prstGeom prst="rect">
            <a:avLst/>
          </a:prstGeom>
          <a:noFill/>
        </p:spPr>
        <p:txBody>
          <a:bodyPr vert="horz" wrap="square" lIns="0" tIns="0" rIns="0" bIns="0" rtlCol="0">
            <a:noAutofit/>
          </a:bodyPr>
          <a:lstStyle/>
          <a:p>
            <a:r>
              <a:rPr lang="fr-FR" sz="3500" b="1" dirty="0">
                <a:solidFill>
                  <a:srgbClr val="007F82"/>
                </a:solidFill>
                <a:latin typeface="Arial" panose="020B0604020202020204" pitchFamily="34" charset="0"/>
              </a:rPr>
              <a:t>68,85 € HT</a:t>
            </a:r>
          </a:p>
        </p:txBody>
      </p:sp>
      <p:sp>
        <p:nvSpPr>
          <p:cNvPr id="15" name="ZoneTexte 14">
            <a:extLst>
              <a:ext uri="{FF2B5EF4-FFF2-40B4-BE49-F238E27FC236}">
                <a16:creationId xmlns:a16="http://schemas.microsoft.com/office/drawing/2014/main" id="{3890D782-0A0D-5D45-EBBE-281B16F43802}"/>
              </a:ext>
            </a:extLst>
          </p:cNvPr>
          <p:cNvSpPr txBox="1"/>
          <p:nvPr/>
        </p:nvSpPr>
        <p:spPr>
          <a:xfrm>
            <a:off x="609600" y="3695699"/>
            <a:ext cx="52705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4 millions au mois 1</a:t>
            </a:r>
          </a:p>
        </p:txBody>
      </p:sp>
      <p:sp>
        <p:nvSpPr>
          <p:cNvPr id="22" name="ZoneTexte 21">
            <a:extLst>
              <a:ext uri="{FF2B5EF4-FFF2-40B4-BE49-F238E27FC236}">
                <a16:creationId xmlns:a16="http://schemas.microsoft.com/office/drawing/2014/main" id="{ED072734-4974-6397-0AB1-41177A671D90}"/>
              </a:ext>
            </a:extLst>
          </p:cNvPr>
          <p:cNvSpPr txBox="1"/>
          <p:nvPr/>
        </p:nvSpPr>
        <p:spPr>
          <a:xfrm>
            <a:off x="6413500" y="2374899"/>
            <a:ext cx="51689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Chaque mois, sur un an</a:t>
            </a:r>
          </a:p>
        </p:txBody>
      </p:sp>
      <p:sp>
        <p:nvSpPr>
          <p:cNvPr id="23" name="ZoneTexte 22">
            <a:extLst>
              <a:ext uri="{FF2B5EF4-FFF2-40B4-BE49-F238E27FC236}">
                <a16:creationId xmlns:a16="http://schemas.microsoft.com/office/drawing/2014/main" id="{7526DBB8-FEA0-E434-E340-9E8D00C2852B}"/>
              </a:ext>
            </a:extLst>
          </p:cNvPr>
          <p:cNvSpPr txBox="1"/>
          <p:nvPr/>
        </p:nvSpPr>
        <p:spPr>
          <a:xfrm>
            <a:off x="6413500" y="2920999"/>
            <a:ext cx="5168900" cy="673100"/>
          </a:xfrm>
          <a:prstGeom prst="rect">
            <a:avLst/>
          </a:prstGeom>
          <a:noFill/>
        </p:spPr>
        <p:txBody>
          <a:bodyPr vert="horz" wrap="square" lIns="0" tIns="0" rIns="0" bIns="0" rtlCol="0">
            <a:noAutofit/>
          </a:bodyPr>
          <a:lstStyle/>
          <a:p>
            <a:r>
              <a:rPr lang="fr-FR" sz="3500" b="1">
                <a:solidFill>
                  <a:srgbClr val="007F82"/>
                </a:solidFill>
                <a:latin typeface="Arial" panose="020B0604020202020204" pitchFamily="34" charset="0"/>
              </a:rPr>
              <a:t>103,6 </a:t>
            </a:r>
            <a:r>
              <a:rPr lang="fr-FR" sz="3500" b="1" dirty="0">
                <a:solidFill>
                  <a:srgbClr val="007F82"/>
                </a:solidFill>
                <a:latin typeface="Arial" panose="020B0604020202020204" pitchFamily="34" charset="0"/>
              </a:rPr>
              <a:t>€ HT</a:t>
            </a:r>
          </a:p>
        </p:txBody>
      </p:sp>
      <p:sp>
        <p:nvSpPr>
          <p:cNvPr id="24" name="ZoneTexte 23">
            <a:extLst>
              <a:ext uri="{FF2B5EF4-FFF2-40B4-BE49-F238E27FC236}">
                <a16:creationId xmlns:a16="http://schemas.microsoft.com/office/drawing/2014/main" id="{81B20EE6-E99F-1DBC-3797-1DF344C5CCA4}"/>
              </a:ext>
            </a:extLst>
          </p:cNvPr>
          <p:cNvSpPr txBox="1"/>
          <p:nvPr/>
        </p:nvSpPr>
        <p:spPr>
          <a:xfrm>
            <a:off x="6413500" y="3695699"/>
            <a:ext cx="51689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Environ 333 333 images / mois</a:t>
            </a:r>
          </a:p>
        </p:txBody>
      </p:sp>
      <p:sp>
        <p:nvSpPr>
          <p:cNvPr id="25" name="ZoneTexte 24">
            <a:extLst>
              <a:ext uri="{FF2B5EF4-FFF2-40B4-BE49-F238E27FC236}">
                <a16:creationId xmlns:a16="http://schemas.microsoft.com/office/drawing/2014/main" id="{2EA9B0B6-64EC-F06E-2FC0-3442316BFF62}"/>
              </a:ext>
            </a:extLst>
          </p:cNvPr>
          <p:cNvSpPr txBox="1"/>
          <p:nvPr/>
        </p:nvSpPr>
        <p:spPr>
          <a:xfrm>
            <a:off x="609600" y="42417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26" name="ZoneTexte 25">
            <a:extLst>
              <a:ext uri="{FF2B5EF4-FFF2-40B4-BE49-F238E27FC236}">
                <a16:creationId xmlns:a16="http://schemas.microsoft.com/office/drawing/2014/main" id="{02C4FB12-7CD8-8CB3-91E4-DFCEC879D5B2}"/>
              </a:ext>
            </a:extLst>
          </p:cNvPr>
          <p:cNvSpPr txBox="1"/>
          <p:nvPr/>
        </p:nvSpPr>
        <p:spPr>
          <a:xfrm>
            <a:off x="609600" y="46481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Images : 12 mois × 1,97815 € = 23,74 €</a:t>
            </a:r>
          </a:p>
        </p:txBody>
      </p:sp>
      <p:sp>
        <p:nvSpPr>
          <p:cNvPr id="27" name="ZoneTexte 26">
            <a:extLst>
              <a:ext uri="{FF2B5EF4-FFF2-40B4-BE49-F238E27FC236}">
                <a16:creationId xmlns:a16="http://schemas.microsoft.com/office/drawing/2014/main" id="{8869FAB3-5DEC-72A1-CCCF-26E5FF430F26}"/>
              </a:ext>
            </a:extLst>
          </p:cNvPr>
          <p:cNvSpPr txBox="1"/>
          <p:nvPr/>
        </p:nvSpPr>
        <p:spPr>
          <a:xfrm>
            <a:off x="609600" y="50545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 mois × 4,148 € = 4,15 €</a:t>
            </a:r>
          </a:p>
        </p:txBody>
      </p:sp>
      <p:sp>
        <p:nvSpPr>
          <p:cNvPr id="28" name="ZoneTexte 27">
            <a:extLst>
              <a:ext uri="{FF2B5EF4-FFF2-40B4-BE49-F238E27FC236}">
                <a16:creationId xmlns:a16="http://schemas.microsoft.com/office/drawing/2014/main" id="{98A40DFC-A682-8522-95D2-F72D1D16E3A7}"/>
              </a:ext>
            </a:extLst>
          </p:cNvPr>
          <p:cNvSpPr txBox="1"/>
          <p:nvPr/>
        </p:nvSpPr>
        <p:spPr>
          <a:xfrm>
            <a:off x="609600" y="5930899"/>
            <a:ext cx="5270500" cy="355600"/>
          </a:xfrm>
          <a:prstGeom prst="rect">
            <a:avLst/>
          </a:prstGeom>
          <a:noFill/>
        </p:spPr>
        <p:txBody>
          <a:bodyPr vert="horz" wrap="square" lIns="0" tIns="0" rIns="0" bIns="0" rtlCol="0">
            <a:noAutofit/>
          </a:bodyPr>
          <a:lstStyle/>
          <a:p>
            <a:r>
              <a:rPr lang="fr-FR">
                <a:solidFill>
                  <a:srgbClr val="536473"/>
                </a:solidFill>
                <a:latin typeface="Arial" panose="020B0604020202020204" pitchFamily="34" charset="0"/>
              </a:rPr>
              <a:t>Main d’œuvre exclu</a:t>
            </a:r>
            <a:endParaRPr lang="fr-FR" dirty="0">
              <a:solidFill>
                <a:srgbClr val="172F43"/>
              </a:solidFill>
              <a:latin typeface="Arial" panose="020B0604020202020204" pitchFamily="34" charset="0"/>
            </a:endParaRPr>
          </a:p>
        </p:txBody>
      </p:sp>
      <p:sp>
        <p:nvSpPr>
          <p:cNvPr id="29" name="ZoneTexte 28">
            <a:extLst>
              <a:ext uri="{FF2B5EF4-FFF2-40B4-BE49-F238E27FC236}">
                <a16:creationId xmlns:a16="http://schemas.microsoft.com/office/drawing/2014/main" id="{1375E4CF-4636-70C5-4B90-95DCB5A59BA1}"/>
              </a:ext>
            </a:extLst>
          </p:cNvPr>
          <p:cNvSpPr txBox="1"/>
          <p:nvPr/>
        </p:nvSpPr>
        <p:spPr>
          <a:xfrm>
            <a:off x="6413500" y="42417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30" name="ZoneTexte 29">
            <a:extLst>
              <a:ext uri="{FF2B5EF4-FFF2-40B4-BE49-F238E27FC236}">
                <a16:creationId xmlns:a16="http://schemas.microsoft.com/office/drawing/2014/main" id="{960C4C70-E218-EAC5-B2C4-F660AC17E772}"/>
              </a:ext>
            </a:extLst>
          </p:cNvPr>
          <p:cNvSpPr txBox="1"/>
          <p:nvPr/>
        </p:nvSpPr>
        <p:spPr>
          <a:xfrm>
            <a:off x="6413500" y="46481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Stockage progressif des images : 12,86 €</a:t>
            </a:r>
          </a:p>
        </p:txBody>
      </p:sp>
      <p:sp>
        <p:nvSpPr>
          <p:cNvPr id="31" name="ZoneTexte 30">
            <a:extLst>
              <a:ext uri="{FF2B5EF4-FFF2-40B4-BE49-F238E27FC236}">
                <a16:creationId xmlns:a16="http://schemas.microsoft.com/office/drawing/2014/main" id="{BA862111-9A49-FCC5-958B-4974B12A95AF}"/>
              </a:ext>
            </a:extLst>
          </p:cNvPr>
          <p:cNvSpPr txBox="1"/>
          <p:nvPr/>
        </p:nvSpPr>
        <p:spPr>
          <a:xfrm>
            <a:off x="6413500" y="50545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12 mois × 4,148 € = 49,78 €</a:t>
            </a:r>
          </a:p>
        </p:txBody>
      </p:sp>
      <p:sp>
        <p:nvSpPr>
          <p:cNvPr id="32" name="ZoneTexte 31">
            <a:extLst>
              <a:ext uri="{FF2B5EF4-FFF2-40B4-BE49-F238E27FC236}">
                <a16:creationId xmlns:a16="http://schemas.microsoft.com/office/drawing/2014/main" id="{0FB7AABA-5F5D-6D17-B3AF-ECAE470C64A7}"/>
              </a:ext>
            </a:extLst>
          </p:cNvPr>
          <p:cNvSpPr txBox="1"/>
          <p:nvPr/>
        </p:nvSpPr>
        <p:spPr>
          <a:xfrm>
            <a:off x="6413500" y="54609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34" name="ZoneTexte 33">
            <a:hlinkClick r:id="rId3"/>
            <a:extLst>
              <a:ext uri="{FF2B5EF4-FFF2-40B4-BE49-F238E27FC236}">
                <a16:creationId xmlns:a16="http://schemas.microsoft.com/office/drawing/2014/main" id="{4D989066-5441-128B-7E70-01990F6AC680}"/>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
        <p:nvSpPr>
          <p:cNvPr id="3" name="ZoneTexte 2">
            <a:extLst>
              <a:ext uri="{FF2B5EF4-FFF2-40B4-BE49-F238E27FC236}">
                <a16:creationId xmlns:a16="http://schemas.microsoft.com/office/drawing/2014/main" id="{59A25018-B0A6-C2A7-D20E-48A5508AA898}"/>
              </a:ext>
            </a:extLst>
          </p:cNvPr>
          <p:cNvSpPr txBox="1"/>
          <p:nvPr/>
        </p:nvSpPr>
        <p:spPr>
          <a:xfrm>
            <a:off x="609600" y="1606549"/>
            <a:ext cx="10972800" cy="5080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On considère le modèle déjà entrainé donc seul le temps de traitement est considéré ici</a:t>
            </a:r>
          </a:p>
        </p:txBody>
      </p:sp>
      <p:sp>
        <p:nvSpPr>
          <p:cNvPr id="2" name="ZoneTexte 1">
            <a:extLst>
              <a:ext uri="{FF2B5EF4-FFF2-40B4-BE49-F238E27FC236}">
                <a16:creationId xmlns:a16="http://schemas.microsoft.com/office/drawing/2014/main" id="{F59C40E2-3131-5768-795C-8C1A29EA40B1}"/>
              </a:ext>
            </a:extLst>
          </p:cNvPr>
          <p:cNvSpPr txBox="1"/>
          <p:nvPr/>
        </p:nvSpPr>
        <p:spPr>
          <a:xfrm>
            <a:off x="609601" y="53974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 prévoir une partie du budget pour la labélisation.</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1808</Words>
  <Application>Microsoft Office PowerPoint</Application>
  <PresentationFormat>Grand écran</PresentationFormat>
  <Paragraphs>290</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28</cp:revision>
  <dcterms:created xsi:type="dcterms:W3CDTF">2026-10-09T08:40:36Z</dcterms:created>
  <dcterms:modified xsi:type="dcterms:W3CDTF">2026-10-10T13:19:39Z</dcterms:modified>
</cp:coreProperties>
</file>